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es-AR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hf dt="0" hdr="0" ftr="0" sldNum="0"/>
  <p:notesStyle>
    <a:lvl1pPr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Objetivo: presentar qué se verificó, con qué límites y qué resultados son defendibles.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72 unitarias no-CFT = 66 ADS1263 + 6 acquisition robustness; los 24 casos CFT se informan aparte.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No mezclar esos grupos con las 71 integraciones por corrida.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Anticipar desde el inicio: todo el resultado actual es host-only y DEF-001 sigue abierto.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docs/tsse/evidencias/05_integracion_host/milestone_4_20261015T161203Z/run_1/summary.json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docs/tsse/evidencias/07_defectos_regresion/milestone_3a_20261015T150616Z/DEF-001-DSP017-rate-1-livelock.md</a:t>
            </a:r>
            <a:endParaRPr lang="es-AR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Explicar el flujo desde CLI hasta hardware. La línea turquesa marca la frontera verificada.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 producción real se compila donde corresponde, pero SPI/GPIO y hardware se sustituyen o excluyen.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Decir literalmente que la validación de placa es histórica, sin logs raw adjuntos, y no una ejecución de este trabajo.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Distinguir snapshots: el diseño CFT modela baseline c59b24017f5daebb4e37512d799a0d07f589bce5; el análisis estático M4 registra HEAD 54a91ed4b684b5ac6f4221c8743768fad5083270.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docs/architecture.md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docs/tsse/cft_acquisition_run_samples.md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docs/tsse/discrepancias.md#dsp-016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docs/tsse/evidencias/02_analisis_estatico/milestone_4_20261015T161203Z/README.md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docs/tsse/evidencias/05_integracion_host/milestone_4_20261015T161203Z/run_1/summary.json</a:t>
            </a:r>
            <a:endParaRPr lang="es-AR"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No se usa cobertura como sinónimo de calidad; se triangulan diseño, ejecución, cobertura y análisis.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Los oráculos verifican efectos observables y orden, no sólo el código de salida.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 disciplina de estados evita presentar un bloqueo como éxito o un antecedente como ejecución actual.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docs/tsse/master_test_plan.md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docs/tsse/matriz_trazabilidad.md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docs/tsse/catalogo_casos.md</a:t>
            </a:r>
            <a:endParaRPr lang="es-AR"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Presentar el CFT como un modelo de componente, no como un dibujo decorativo.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P21 usa N=2 y rate=2: valida, prepara, produce dos muestras y recorre una vez el back edge.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El oráculo controla retorno, llamadas, outputs, sleep y cleanup. Rate=1 con N&gt;1 se excluye como path exitoso porque expone DEF-001.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 selección de 24 paths cubre outcomes relevantes, pero no pretende todos los paths posibles.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docs/tsse/cft_acquisition_run_samples.md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docs/tsse/cft_cases.md#paths-seleccionados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docs/tsse/evidencias/04_unitarias/milestone_4_20261015T161203Z/acquisition_tests_report.json</a:t>
            </a:r>
            <a:endParaRPr lang="es-AR"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 unidad bajo prueba no es una reimplementación: se compilan los C de producción.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Los dobles controlan dependencias y permiten verificar secuencias, errores, salidas y cleanup sin hardware.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Descomponer el total: 66 pruebas del core ADS1263; 6 de robustez acquisition; 24 paths CFT.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docs/tsse/evidencias/04_unitarias/milestone_4_20261015T161203Z/ads1263_tests_report.json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docs/tsse/evidencias/04_unitarias/milestone_4_20261015T161203Z/acquisition_tests_report.json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test/ceedling/project_acquisition_robustness.yml</a:t>
            </a:r>
            <a:endParaRPr lang="es-AR"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Dar los cuatro números sin sumarlos en un total ambiguo: 72, 24, 71 y 71.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 repetición de integración confirma declaración versus ejecución y conserva resultados por caso.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Aclarar que PASS significa conformidad dentro del contrato host; no valida hardware.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docs/tsse/evidencias/04_unitarias/milestone_4_20261015T161203Z/ads1263_tests_report.json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docs/tsse/evidencias/04_unitarias/milestone_4_20261015T161203Z/acquisition_tests_report.json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docs/tsse/evidencias/05_integracion_host/milestone_4_20261015T161203Z/run_1/summary.json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docs/tsse/evidencias/05_integracion_host/milestone_4_20261015T161203Z/run_2/summary.json</a:t>
            </a:r>
            <a:endParaRPr lang="es-AR"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Leer cobertura por módulo y métrica; no combinar denominadores.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ADS1263 queda en 151/222 líneas, 13/16 funciones y 90/134 ramas.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Acquisition sube desde 54/168, 6/13 y 26/76 a 118/168, 9/13 y 53/76.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Cerrar la lámina mostrando la cadena requisito → caso → evidencia, sin umbral artificial.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docs/tsse/evidencias/06_cobertura/milestone_4_20261015T161203Z/ads1263/GcovCoverage.json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docs/tsse/evidencias/06_cobertura/milestone_4_20261015T161203Z/acquisition/GcovCoverage.json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docs/tsse/evidencias/06_cobertura/milestone_3a_20261015T150616Z/README.md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docs/tsse/matriz_trazabilidad.md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docs/tsse/catalogo_casos.md</a:t>
            </a:r>
            <a:endParaRPr lang="es-AR"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Separar explícitamente tres categorías.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Cppcheck produjo 41 diagnósticos style: 37 unusedStructMember, 1 constParameterPointer de contexto/tool y 3 staticFunction de interfaz pública aceptados.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Los 32 missingIncludeSystem son notices separados; el total no equivale a ejecución limpia ni a ausencia total de defectos.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 variante libgpiod está BLOCKED por entorno y no se ejecutó.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DEF-001 es el único defecto confirmado: rate=1 construye un timespec inválido y el proceso no progresa para N&gt;=2.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ROB-001 sigue sospechado por falta de contrato aprobado; ROB-003 sigue como ambigüedad contractual.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docs/tsse/evidencias/02_analisis_estatico/milestone_4_20261015T161203Z/README.md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docs/tsse/evidencias/02_analisis_estatico/milestone_4_20261015T161203Z/findings.md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docs/tsse/evidencias/07_defectos_regresion/milestone_3a_20261015T150616Z/README.md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docs/tsse/evidencias/07_defectos_regresion/milestone_3a_20261015T150616Z/DEF-001-DSP017-rate-1-livelock.md</a:t>
            </a:r>
            <a:endParaRPr lang="es-AR"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Cerrar con una afirmación calibrada: evidencia fuerte de contratos software host, no certificación del sistema físico.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Los siguientes pasos naturales son: gate de corrección para DEF-001, entorno con libgpiod y una campaña de placa con logs raw.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No prometer esas actividades como realizadas.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docs/tsse/evidencias/05_integracion_host/milestone_4_20261015T161203Z/run_1/summary.json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docs/tsse/evidencias/02_analisis_estatico/milestone_4_20261015T161203Z/README.md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docs/tsse/evidencias/07_defectos_regresion/milestone_3a_20261015T150616Z/DEF-001-DSP017-rate-1-livelock.md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docs/tsse/discrepancias.md#dsp-016</a:t>
            </a:r>
            <a:endParaRPr lang="es-AR"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Usar sólo si preguntan cómo se distribuyen los 24 paths.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Cada grupo corresponde a outcomes y edges explícitos del diseño CFT.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docs/tsse/cft_cases.md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docs/tsse/evidencias/04_unitarias/milestone_4_20261015T161203Z/acquisition_tests_report.json</a:t>
            </a:r>
            <a:endParaRPr lang="es-AR"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Distinguir casos únicos, corridas repetidas y el probe del defecto.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Los 72 no-CFT son 66 ADS1263 más 6 acquisition robustness.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docs/tsse/evidencias/04_unitarias/milestone_4_20261015T161203Z/ads1263_tests_report.json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docs/tsse/evidencias/04_unitarias/milestone_4_20261015T161203Z/acquisition_tests_report.json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docs/tsse/evidencias/05_integracion_host/milestone_4_20261015T161203Z/run_1/summary.json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docs/tsse/evidencias/milestone_3a_completion_report.md</a:t>
            </a:r>
            <a:endParaRPr lang="es-AR"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Los extractos son deliberadamente breves; no sustituyen los raw.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El bloque de cobertura proviene del JSON de gcovr; el probe DEF-001 está documentado con comando y timeout.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docs/tsse/evidencias/04_unitarias/milestone_4_20261015T161203Z/04_acquisition_cft_clean_test_all_after_fix.typescript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docs/tsse/evidencias/05_integracion_host/milestone_4_20261015T161203Z/02_run_1.typescript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docs/tsse/evidencias/06_cobertura/milestone_4_20261015T161203Z/acquisition/GcovCoverage.json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docs/tsse/evidencias/07_defectos_regresion/milestone_3a_20261015T150616Z/03_dsp017_probe_timeout.typescript</a:t>
            </a:r>
            <a:endParaRPr lang="es-AR"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No sumar líneas de módulos ni convertirlas en una cobertura global no definida.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 mejora de acquisition refleja la incorporación de los paths CFT.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docs/tsse/evidencias/06_cobertura/milestone_4_20261015T161203Z/ads1263/GcovCoverage.json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docs/tsse/evidencias/06_cobertura/milestone_4_20261015T161203Z/acquisition/GcovCoverage.json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docs/tsse/evidencias/06_cobertura/milestone_3a_20261015T150616Z/README.md</a:t>
            </a:r>
            <a:endParaRPr lang="es-AR"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Los 41 source findings son 37 unusedStructMember, 1 constParameterPointer de contexto/tool y 3 staticFunction de interfaz pública aceptados.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Las 32 limitaciones missingIncludeSystem y los 2 notices de profundidad no pertenecen al total de 41 source findings.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El follow-up exhaustive cerró los notices de profundidad sin borrar el run original.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docs/tsse/evidencias/02_analisis_estatico/milestone_4_20261015T161203Z/findings.md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docs/tsse/evidencias/02_analisis_estatico/milestone_4_20261015T161203Z/README.md</a:t>
            </a:r>
            <a:endParaRPr lang="es-AR"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No promover ROB-001 ni ROB-003 a defectos confirmados.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DEF-001 combina unit test de argumento, llamada POSIX y probe de proceso acotado.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docs/tsse/evidencias/07_defectos_regresion/milestone_3a_20261015T150616Z/README.md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docs/tsse/evidencias/07_defectos_regresion/milestone_3a_20261015T150616Z/DEF-001-DSP017-rate-1-livelock.md</a:t>
            </a:r>
            <a:endParaRPr lang="es-AR" sz="11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 txBox="1"/>
          <p:nvPr>
            <p:ph type="body" idx="1"/>
          </p:nvPr>
        </p:nvSpPr>
        <p:spPr>
          <a:xfrm>
            <a:off x="457200" y="2743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Usar como índice durante preguntas.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Las rutas son relativas a la raíz del repositorio y preservan raw, resúmenes y disposiciones.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 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Evidencia: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- docs/tsse/evidencias/09_presentacion/milestone_4_20261015T161203Z/README.md</a:t>
            </a:r>
            <a:endParaRPr lang="es-AR"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SS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 algn="l">
        <a:defRPr sz="3000" b="1"/>
      </a:lvl1pPr>
    </p:titleStyle>
    <p:bodyStyle>
      <a:lvl1pPr>
        <a:defRPr sz="1800"/>
      </a:lvl1pPr>
    </p:bodyStyle>
    <p:otherStyle>
      <a:defPPr>
        <a:defRPr lang="es-AR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502920" y="502920"/>
            <a:ext cx="109728" cy="5394960"/>
          </a:xfrm>
          <a:prstGeom prst="rect">
            <a:avLst/>
          </a:prstGeom>
          <a:solidFill>
            <a:srgbClr val="008C8C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41248" y="640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8FD6CF"/>
                </a:solidFill>
              </a:rPr>
              <a:t>TSSE · MILESTONE 4</a:t>
            </a:r>
            <a:endParaRPr lang="es-AR" sz="1200"/>
          </a:p>
        </p:txBody>
      </p:sp>
      <p:sp>
        <p:nvSpPr>
          <p:cNvPr id="5" name="Text 5"/>
          <p:cNvSpPr txBox="1"/>
          <p:nvPr/>
        </p:nvSpPr>
        <p:spPr>
          <a:xfrm>
            <a:off x="841248" y="1234440"/>
            <a:ext cx="98755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3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Verificación de software</a:t>
            </a:r>
            <a:endParaRPr lang="es-AR" sz="3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3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para adquisición ADS1263</a:t>
            </a:r>
            <a:endParaRPr lang="es-AR" sz="3300"/>
          </a:p>
        </p:txBody>
      </p:sp>
      <p:sp>
        <p:nvSpPr>
          <p:cNvPr id="6" name="Text 6"/>
          <p:cNvSpPr txBox="1"/>
          <p:nvPr/>
        </p:nvSpPr>
        <p:spPr>
          <a:xfrm>
            <a:off x="868680" y="2926080"/>
            <a:ext cx="8778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dirty="0">
                <a:latin typeface="Arial"/>
                <a:ea typeface="Arial"/>
                <a:cs typeface="Arial"/>
                <a:solidFill>
                  <a:srgbClr val="D9E2EC"/>
                </a:solidFill>
              </a:rPr>
              <a:t>Estrategia host reproducible · CFT · unitarias · integración · cobertura · estático</a:t>
            </a:r>
            <a:endParaRPr lang="es-AR" sz="1700"/>
          </a:p>
        </p:txBody>
      </p:sp>
      <p:sp>
        <p:nvSpPr>
          <p:cNvPr id="7" name="Text 7"/>
          <p:cNvSpPr txBox="1"/>
          <p:nvPr/>
        </p:nvSpPr>
        <p:spPr>
          <a:xfrm>
            <a:off x="868680" y="4005072"/>
            <a:ext cx="2743200" cy="804672"/>
          </a:xfrm>
          <a:prstGeom prst="roundRect">
            <a:avLst/>
          </a:prstGeom>
          <a:solidFill>
            <a:srgbClr val="183B57"/>
          </a:solidFill>
          <a:ln>
            <a:noFill/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72/72</a:t>
            </a:r>
            <a:endParaRPr lang="es-AR" sz="2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B9CBDC"/>
                </a:solidFill>
              </a:rPr>
              <a:t>unitarias no-CFT</a:t>
            </a:r>
            <a:endParaRPr lang="es-AR" sz="10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dirty="0">
                <a:latin typeface="Arial"/>
                <a:ea typeface="Arial"/>
                <a:cs typeface="Arial"/>
                <a:solidFill>
                  <a:srgbClr val="B9CBDC"/>
                </a:solidFill>
              </a:rPr>
              <a:t>66 ADS1263 + 6 robustez acquisition</a:t>
            </a:r>
            <a:endParaRPr lang="es-AR" sz="800"/>
          </a:p>
        </p:txBody>
      </p:sp>
      <p:sp>
        <p:nvSpPr>
          <p:cNvPr id="8" name="Text 8"/>
          <p:cNvSpPr txBox="1"/>
          <p:nvPr/>
        </p:nvSpPr>
        <p:spPr>
          <a:xfrm>
            <a:off x="3749040" y="4005072"/>
            <a:ext cx="2194560" cy="804672"/>
          </a:xfrm>
          <a:prstGeom prst="roundRect">
            <a:avLst/>
          </a:prstGeom>
          <a:solidFill>
            <a:srgbClr val="183B57"/>
          </a:solidFill>
          <a:ln>
            <a:noFill/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24/24</a:t>
            </a:r>
            <a:endParaRPr lang="es-AR" sz="2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B9CBDC"/>
                </a:solidFill>
              </a:rPr>
              <a:t>casos CFT PASS</a:t>
            </a:r>
            <a:endParaRPr lang="es-AR" sz="1000"/>
          </a:p>
        </p:txBody>
      </p:sp>
      <p:sp>
        <p:nvSpPr>
          <p:cNvPr id="9" name="Text 9"/>
          <p:cNvSpPr txBox="1"/>
          <p:nvPr/>
        </p:nvSpPr>
        <p:spPr>
          <a:xfrm>
            <a:off x="6080760" y="4005072"/>
            <a:ext cx="2468880" cy="804672"/>
          </a:xfrm>
          <a:prstGeom prst="roundRect">
            <a:avLst/>
          </a:prstGeom>
          <a:solidFill>
            <a:srgbClr val="183B57"/>
          </a:solidFill>
          <a:ln>
            <a:noFill/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71/71 × 2</a:t>
            </a:r>
            <a:endParaRPr lang="es-AR" sz="2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B9CBDC"/>
                </a:solidFill>
              </a:rPr>
              <a:t>integración PASS</a:t>
            </a:r>
            <a:endParaRPr lang="es-AR" sz="1000"/>
          </a:p>
        </p:txBody>
      </p:sp>
      <p:sp>
        <p:nvSpPr>
          <p:cNvPr id="10" name="Text 10"/>
          <p:cNvSpPr txBox="1"/>
          <p:nvPr/>
        </p:nvSpPr>
        <p:spPr>
          <a:xfrm>
            <a:off x="8686800" y="4005072"/>
            <a:ext cx="2103120" cy="804672"/>
          </a:xfrm>
          <a:prstGeom prst="roundRect">
            <a:avLst/>
          </a:prstGeom>
          <a:solidFill>
            <a:srgbClr val="183B57"/>
          </a:solidFill>
          <a:ln>
            <a:noFill/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300" b="1" dirty="0">
                <a:latin typeface="Arial"/>
                <a:ea typeface="Arial"/>
                <a:cs typeface="Arial"/>
                <a:solidFill>
                  <a:srgbClr val="FFC6B5"/>
                </a:solidFill>
              </a:rPr>
              <a:t>1</a:t>
            </a:r>
            <a:endParaRPr lang="es-AR" sz="2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B9CBDC"/>
                </a:solidFill>
              </a:rPr>
              <a:t>defecto confirmado</a:t>
            </a:r>
            <a:endParaRPr lang="es-AR" sz="1000"/>
          </a:p>
        </p:txBody>
      </p:sp>
      <p:sp>
        <p:nvSpPr>
          <p:cNvPr id="11" name="Text 11"/>
          <p:cNvSpPr txBox="1"/>
          <p:nvPr/>
        </p:nvSpPr>
        <p:spPr>
          <a:xfrm>
            <a:off x="868680" y="57607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B9CBDC"/>
                </a:solidFill>
              </a:rPr>
              <a:t>Alcance: host-only · sin cambios de producción · sin hardware</a:t>
            </a:r>
            <a:endParaRPr lang="es-AR" sz="1200"/>
          </a:p>
        </p:txBody>
      </p:sp>
      <p:sp>
        <p:nvSpPr>
          <p:cNvPr id="12" name="Text 12"/>
          <p:cNvSpPr txBox="1"/>
          <p:nvPr/>
        </p:nvSpPr>
        <p:spPr>
          <a:xfrm>
            <a:off x="10698480" y="57607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8FD6CF"/>
                </a:solidFill>
              </a:rPr>
              <a:t>01 / 09</a:t>
            </a:r>
            <a:endParaRPr lang="es-A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QUÉ SE VERIFICÓ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Sistema, baseline y frontera de la evidencia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02 / 09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572768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CLI</a:t>
            </a:r>
            <a:endParaRPr lang="es-AR" sz="17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parámetros</a:t>
            </a:r>
            <a:endParaRPr lang="es-AR" sz="1000"/>
          </a:p>
        </p:txBody>
      </p:sp>
      <p:cxnSp>
        <p:nvCxnSpPr>
          <p:cNvPr id="7" name="Connector 7"/>
          <p:cNvCxnSpPr/>
          <p:nvPr/>
        </p:nvCxnSpPr>
        <p:spPr>
          <a:xfrm>
            <a:off x="2560320" y="2002536"/>
            <a:ext cx="210312" cy="0"/>
          </a:xfrm>
          <a:prstGeom prst="line">
            <a:avLst/>
          </a:prstGeom>
          <a:ln w="16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8" name="Text 8"/>
          <p:cNvSpPr txBox="1"/>
          <p:nvPr/>
        </p:nvSpPr>
        <p:spPr>
          <a:xfrm>
            <a:off x="2816352" y="1572768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acquisition</a:t>
            </a:r>
            <a:endParaRPr lang="es-AR" sz="17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orquestación</a:t>
            </a:r>
            <a:endParaRPr lang="es-AR" sz="1000"/>
          </a:p>
        </p:txBody>
      </p:sp>
      <p:cxnSp>
        <p:nvCxnSpPr>
          <p:cNvPr id="9" name="Connector 9"/>
          <p:cNvCxnSpPr/>
          <p:nvPr/>
        </p:nvCxnSpPr>
        <p:spPr>
          <a:xfrm>
            <a:off x="4782312" y="2002536"/>
            <a:ext cx="210312" cy="0"/>
          </a:xfrm>
          <a:prstGeom prst="line">
            <a:avLst/>
          </a:prstGeom>
          <a:ln w="16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10" name="Text 10"/>
          <p:cNvSpPr txBox="1"/>
          <p:nvPr/>
        </p:nvSpPr>
        <p:spPr>
          <a:xfrm>
            <a:off x="5038344" y="1572768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ADS1263</a:t>
            </a:r>
            <a:endParaRPr lang="es-AR" sz="17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protocolo</a:t>
            </a:r>
            <a:endParaRPr lang="es-AR" sz="1000"/>
          </a:p>
        </p:txBody>
      </p:sp>
      <p:cxnSp>
        <p:nvCxnSpPr>
          <p:cNvPr id="11" name="Connector 11"/>
          <p:cNvCxnSpPr/>
          <p:nvPr/>
        </p:nvCxnSpPr>
        <p:spPr>
          <a:xfrm>
            <a:off x="7004304" y="2002536"/>
            <a:ext cx="210312" cy="0"/>
          </a:xfrm>
          <a:prstGeom prst="line">
            <a:avLst/>
          </a:prstGeom>
          <a:ln w="16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12" name="Text 12"/>
          <p:cNvSpPr txBox="1"/>
          <p:nvPr/>
        </p:nvSpPr>
        <p:spPr>
          <a:xfrm>
            <a:off x="7260336" y="1572768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HAL Linux</a:t>
            </a:r>
            <a:endParaRPr lang="es-AR" sz="17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SPI / GPIO</a:t>
            </a:r>
            <a:endParaRPr lang="es-AR" sz="1000"/>
          </a:p>
        </p:txBody>
      </p:sp>
      <p:cxnSp>
        <p:nvCxnSpPr>
          <p:cNvPr id="13" name="Connector 13"/>
          <p:cNvCxnSpPr/>
          <p:nvPr/>
        </p:nvCxnSpPr>
        <p:spPr>
          <a:xfrm>
            <a:off x="9226296" y="2002536"/>
            <a:ext cx="210312" cy="0"/>
          </a:xfrm>
          <a:prstGeom prst="line">
            <a:avLst/>
          </a:prstGeom>
          <a:ln w="16000">
            <a:solidFill>
              <a:srgbClr val="627D98"/>
            </a:solidFill>
            <a:headEnd type="none"/>
            <a:tailEnd type="triangle" w="sm" len="sm"/>
          </a:ln>
        </p:spPr>
      </p:cxnSp>
      <p:sp>
        <p:nvSpPr>
          <p:cNvPr id="14" name="Text 14"/>
          <p:cNvSpPr txBox="1"/>
          <p:nvPr/>
        </p:nvSpPr>
        <p:spPr>
          <a:xfrm>
            <a:off x="9482328" y="1572768"/>
            <a:ext cx="1965960" cy="86868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hardware</a:t>
            </a:r>
            <a:endParaRPr lang="es-AR" sz="17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placa + ADC</a:t>
            </a:r>
            <a:endParaRPr lang="es-AR" sz="1000"/>
          </a:p>
        </p:txBody>
      </p:sp>
      <p:sp>
        <p:nvSpPr>
          <p:cNvPr id="15" name="Rect 15"/>
          <p:cNvSpPr/>
          <p:nvPr/>
        </p:nvSpPr>
        <p:spPr>
          <a:xfrm>
            <a:off x="594360" y="2788920"/>
            <a:ext cx="7315200" cy="73152"/>
          </a:xfrm>
          <a:prstGeom prst="rect">
            <a:avLst/>
          </a:prstGeom>
          <a:solidFill>
            <a:srgbClr val="008C8C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594360" y="2944368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FRONTERA ACTUAL: software host, SUT real con límites controlados</a:t>
            </a:r>
            <a:endParaRPr lang="es-AR" sz="1300"/>
          </a:p>
        </p:txBody>
      </p:sp>
      <p:sp>
        <p:nvSpPr>
          <p:cNvPr id="17" name="Text 17"/>
          <p:cNvSpPr txBox="1"/>
          <p:nvPr/>
        </p:nvSpPr>
        <p:spPr>
          <a:xfrm>
            <a:off x="594360" y="3456432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Incluye</a:t>
            </a:r>
            <a:endParaRPr lang="es-AR" sz="15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• módulos C reales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• mocks / wrappers / fake HAL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• CLI, archivos y procesos host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• trazas y artefactos reproducibles</a:t>
            </a:r>
            <a:endParaRPr lang="es-AR" sz="1300"/>
          </a:p>
        </p:txBody>
      </p:sp>
      <p:sp>
        <p:nvSpPr>
          <p:cNvPr id="18" name="Text 18"/>
          <p:cNvSpPr txBox="1"/>
          <p:nvPr/>
        </p:nvSpPr>
        <p:spPr>
          <a:xfrm>
            <a:off x="5961888" y="3456432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No incluye</a:t>
            </a:r>
            <a:endParaRPr lang="es-AR" sz="15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• SPI/GPIO físicos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• exactitud eléctrica del ADC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• frecuencia o tiempo real de target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• rama libgpiod no disponible</a:t>
            </a:r>
            <a:endParaRPr lang="es-AR" sz="1300"/>
          </a:p>
        </p:txBody>
      </p:sp>
      <p:sp>
        <p:nvSpPr>
          <p:cNvPr id="19" name="Text 19"/>
          <p:cNvSpPr txBox="1"/>
          <p:nvPr/>
        </p:nvSpPr>
        <p:spPr>
          <a:xfrm>
            <a:off x="594360" y="5120640"/>
            <a:ext cx="10533888" cy="676656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VALIDACIÓN EN PLACA: antecedente histórico informado; sin raw log reproducible en este repositorio. No es resultado TSSE actual.</a:t>
            </a:r>
            <a:endParaRPr lang="es-AR" sz="1300"/>
          </a:p>
        </p:txBody>
      </p:sp>
      <p:sp>
        <p:nvSpPr>
          <p:cNvPr id="20" name="Text 20"/>
          <p:cNvSpPr txBox="1"/>
          <p:nvPr/>
        </p:nvSpPr>
        <p:spPr>
          <a:xfrm>
            <a:off x="594360" y="5907024"/>
            <a:ext cx="105338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95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Baseline CFT de producción: c59b24017f5d · análisis estático M4 HEAD: 54a91ed4b684</a:t>
            </a:r>
            <a:endParaRPr lang="es-AR" sz="950"/>
          </a:p>
        </p:txBody>
      </p:sp>
      <p:cxnSp>
        <p:nvCxnSpPr>
          <p:cNvPr id="21" name="Connector 21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22" name="Text 22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docs/architecture.md · docs/tsse/discrepancias.md (DSP-016) · .../run_1/summary.json:580-584</a:t>
            </a:r>
            <a:endParaRPr lang="es-AR" sz="750"/>
          </a:p>
        </p:txBody>
      </p:sp>
      <p:sp>
        <p:nvSpPr>
          <p:cNvPr id="23" name="Text 23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2</a:t>
            </a:r>
            <a:endParaRPr lang="es-AR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ESTRATEGIA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La calidad se construyó por capas, no por un único número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03 / 09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536192"/>
            <a:ext cx="2039112" cy="1828800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01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Diseño y trazabilidad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requisitos → riesgos → casos</a:t>
            </a:r>
            <a:endParaRPr lang="es-AR" sz="1100"/>
          </a:p>
        </p:txBody>
      </p:sp>
      <p:sp>
        <p:nvSpPr>
          <p:cNvPr id="7" name="Text 7"/>
          <p:cNvSpPr txBox="1"/>
          <p:nvPr/>
        </p:nvSpPr>
        <p:spPr>
          <a:xfrm>
            <a:off x="2862072" y="1536192"/>
            <a:ext cx="2039112" cy="1828800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02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Unitarias + CFT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contratos y control de flujo</a:t>
            </a:r>
            <a:endParaRPr lang="es-AR" sz="1100"/>
          </a:p>
        </p:txBody>
      </p:sp>
      <p:sp>
        <p:nvSpPr>
          <p:cNvPr id="8" name="Text 8"/>
          <p:cNvSpPr txBox="1"/>
          <p:nvPr/>
        </p:nvSpPr>
        <p:spPr>
          <a:xfrm>
            <a:off x="5129784" y="1536192"/>
            <a:ext cx="2039112" cy="1828800"/>
          </a:xfrm>
          <a:prstGeom prst="roundRect">
            <a:avLst/>
          </a:prstGeom>
          <a:solidFill>
            <a:srgbClr val="DDEDE5"/>
          </a:solidFill>
          <a:ln w="12700">
            <a:solidFill>
              <a:srgbClr val="2E7D62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E7D62"/>
                </a:solidFill>
              </a:rPr>
              <a:t>03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Integración host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CLI, CSV, procesos, fake HAL</a:t>
            </a:r>
            <a:endParaRPr lang="es-AR" sz="1100"/>
          </a:p>
        </p:txBody>
      </p:sp>
      <p:sp>
        <p:nvSpPr>
          <p:cNvPr id="9" name="Text 9"/>
          <p:cNvSpPr txBox="1"/>
          <p:nvPr/>
        </p:nvSpPr>
        <p:spPr>
          <a:xfrm>
            <a:off x="7397496" y="1536192"/>
            <a:ext cx="2039112" cy="1828800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04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Cobertura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líneas, funciones y ramas</a:t>
            </a:r>
            <a:endParaRPr lang="es-AR" sz="1100"/>
          </a:p>
        </p:txBody>
      </p:sp>
      <p:sp>
        <p:nvSpPr>
          <p:cNvPr id="10" name="Text 10"/>
          <p:cNvSpPr txBox="1"/>
          <p:nvPr/>
        </p:nvSpPr>
        <p:spPr>
          <a:xfrm>
            <a:off x="9665208" y="1536192"/>
            <a:ext cx="2039112" cy="1828800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05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Análisis estático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hallazgos + disposición</a:t>
            </a:r>
            <a:endParaRPr lang="es-AR" sz="1100"/>
          </a:p>
        </p:txBody>
      </p:sp>
      <p:sp>
        <p:nvSpPr>
          <p:cNvPr id="11" name="Text 11"/>
          <p:cNvSpPr txBox="1"/>
          <p:nvPr/>
        </p:nvSpPr>
        <p:spPr>
          <a:xfrm>
            <a:off x="594360" y="3703320"/>
            <a:ext cx="3337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Oráculos observables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retorno · orden · conteos · archivos · cleanup</a:t>
            </a:r>
            <a:endParaRPr lang="es-AR" sz="1300"/>
          </a:p>
        </p:txBody>
      </p:sp>
      <p:sp>
        <p:nvSpPr>
          <p:cNvPr id="12" name="Text 12"/>
          <p:cNvSpPr txBox="1"/>
          <p:nvPr/>
        </p:nvSpPr>
        <p:spPr>
          <a:xfrm>
            <a:off x="4142232" y="3703320"/>
            <a:ext cx="3337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Repetibilidad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runs limpios · manifests · checksums · raw</a:t>
            </a:r>
            <a:endParaRPr lang="es-AR" sz="1300"/>
          </a:p>
        </p:txBody>
      </p:sp>
      <p:sp>
        <p:nvSpPr>
          <p:cNvPr id="13" name="Text 13"/>
          <p:cNvSpPr txBox="1"/>
          <p:nvPr/>
        </p:nvSpPr>
        <p:spPr>
          <a:xfrm>
            <a:off x="7680960" y="3703320"/>
            <a:ext cx="344728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Lenguaje de cierre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PASS ≠ hardware · BLOCKED ≠ clean</a:t>
            </a:r>
            <a:endParaRPr lang="es-AR" sz="1300"/>
          </a:p>
        </p:txBody>
      </p:sp>
      <p:sp>
        <p:nvSpPr>
          <p:cNvPr id="14" name="Text 14"/>
          <p:cNvSpPr txBox="1"/>
          <p:nvPr/>
        </p:nvSpPr>
        <p:spPr>
          <a:xfrm>
            <a:off x="594360" y="5285232"/>
            <a:ext cx="1053388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Principio: cada afirmación cuantitativa conserva su alcance y su ruta de evidencia.</a:t>
            </a:r>
            <a:endParaRPr lang="es-AR" sz="1500"/>
          </a:p>
        </p:txBody>
      </p:sp>
      <p:cxnSp>
        <p:nvCxnSpPr>
          <p:cNvPr id="15" name="Connector 15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16" name="Text 16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docs/tsse/master_test_plan.md · docs/tsse/matriz_trazabilidad.md · docs/tsse/catalogo_casos.md</a:t>
            </a:r>
            <a:endParaRPr lang="es-AR" sz="750"/>
          </a:p>
        </p:txBody>
      </p:sp>
      <p:sp>
        <p:nvSpPr>
          <p:cNvPr id="17" name="Text 17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3</a:t>
            </a:r>
            <a:endParaRPr lang="es-AR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CONTROL DE FLUJO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CFT: 24 paths factibles; ejemplo legible P21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04 / 09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389888"/>
            <a:ext cx="2743200" cy="512064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32 decisiones</a:t>
            </a:r>
            <a:endParaRPr lang="es-AR" sz="22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V(G)=33</a:t>
            </a:r>
            <a:endParaRPr lang="es-AR" sz="1100"/>
          </a:p>
        </p:txBody>
      </p:sp>
      <p:sp>
        <p:nvSpPr>
          <p:cNvPr id="7" name="Text 7"/>
          <p:cNvSpPr txBox="1"/>
          <p:nvPr/>
        </p:nvSpPr>
        <p:spPr>
          <a:xfrm>
            <a:off x="3547872" y="1389888"/>
            <a:ext cx="2743200" cy="512064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24 paths</a:t>
            </a:r>
            <a:endParaRPr lang="es-AR" sz="22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selección factible</a:t>
            </a:r>
            <a:endParaRPr lang="es-AR" sz="1100"/>
          </a:p>
        </p:txBody>
      </p:sp>
      <p:sp>
        <p:nvSpPr>
          <p:cNvPr id="8" name="Text 8"/>
          <p:cNvSpPr txBox="1"/>
          <p:nvPr/>
        </p:nvSpPr>
        <p:spPr>
          <a:xfrm>
            <a:off x="6492240" y="1389888"/>
            <a:ext cx="463600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Frontera: acquisition, profundidad 1</a:t>
            </a:r>
            <a:endParaRPr lang="es-AR" sz="15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ADS1263/logger/archivo/tiempo como contratos</a:t>
            </a:r>
            <a:endParaRPr lang="es-AR" sz="1000"/>
          </a:p>
        </p:txBody>
      </p:sp>
      <p:sp>
        <p:nvSpPr>
          <p:cNvPr id="9" name="Circle 9"/>
          <p:cNvSpPr/>
          <p:nvPr/>
        </p:nvSpPr>
        <p:spPr>
          <a:xfrm>
            <a:off x="658368" y="2788920"/>
            <a:ext cx="365760" cy="365760"/>
          </a:xfrm>
          <a:prstGeom prst="ellipse">
            <a:avLst/>
          </a:prstGeom>
          <a:solidFill>
            <a:srgbClr val="008C8C"/>
          </a:solidFill>
          <a:ln>
            <a:noFill/>
          </a:ln>
        </p:spPr>
        <p:txBody>
          <a:bodyPr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1</a:t>
            </a:r>
            <a:endParaRPr lang="es-AR" sz="1300"/>
          </a:p>
        </p:txBody>
      </p:sp>
      <p:sp>
        <p:nvSpPr>
          <p:cNvPr id="10" name="Text 10"/>
          <p:cNvSpPr txBox="1"/>
          <p:nvPr/>
        </p:nvSpPr>
        <p:spPr>
          <a:xfrm>
            <a:off x="493776" y="3273552"/>
            <a:ext cx="19019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VALIDAR</a:t>
            </a:r>
            <a:endParaRPr lang="es-AR" sz="1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9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N=2 · rate=2 · ch=0</a:t>
            </a:r>
            <a:endParaRPr lang="es-AR" sz="950"/>
          </a:p>
        </p:txBody>
      </p:sp>
      <p:cxnSp>
        <p:nvCxnSpPr>
          <p:cNvPr id="11" name="Connector 11"/>
          <p:cNvCxnSpPr/>
          <p:nvPr/>
        </p:nvCxnSpPr>
        <p:spPr>
          <a:xfrm>
            <a:off x="1042416" y="2971800"/>
            <a:ext cx="1773936" cy="0"/>
          </a:xfrm>
          <a:prstGeom prst="line">
            <a:avLst/>
          </a:prstGeom>
          <a:ln w="18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12" name="Circle 12"/>
          <p:cNvSpPr/>
          <p:nvPr/>
        </p:nvSpPr>
        <p:spPr>
          <a:xfrm>
            <a:off x="2907792" y="2788920"/>
            <a:ext cx="365760" cy="365760"/>
          </a:xfrm>
          <a:prstGeom prst="ellipse">
            <a:avLst/>
          </a:prstGeom>
          <a:solidFill>
            <a:srgbClr val="008C8C"/>
          </a:solidFill>
          <a:ln>
            <a:noFill/>
          </a:ln>
        </p:spPr>
        <p:txBody>
          <a:bodyPr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2</a:t>
            </a:r>
            <a:endParaRPr lang="es-AR" sz="1300"/>
          </a:p>
        </p:txBody>
      </p:sp>
      <p:sp>
        <p:nvSpPr>
          <p:cNvPr id="13" name="Text 13"/>
          <p:cNvSpPr txBox="1"/>
          <p:nvPr/>
        </p:nvSpPr>
        <p:spPr>
          <a:xfrm>
            <a:off x="2743200" y="3273552"/>
            <a:ext cx="19019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PREPARAR</a:t>
            </a:r>
            <a:endParaRPr lang="es-AR" sz="1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9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init → presence → configure</a:t>
            </a:r>
            <a:endParaRPr lang="es-AR" sz="950"/>
          </a:p>
        </p:txBody>
      </p:sp>
      <p:cxnSp>
        <p:nvCxnSpPr>
          <p:cNvPr id="14" name="Connector 14"/>
          <p:cNvCxnSpPr/>
          <p:nvPr/>
        </p:nvCxnSpPr>
        <p:spPr>
          <a:xfrm>
            <a:off x="3291840" y="2971800"/>
            <a:ext cx="1773936" cy="0"/>
          </a:xfrm>
          <a:prstGeom prst="line">
            <a:avLst/>
          </a:prstGeom>
          <a:ln w="18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15" name="Circle 15"/>
          <p:cNvSpPr/>
          <p:nvPr/>
        </p:nvSpPr>
        <p:spPr>
          <a:xfrm>
            <a:off x="5157216" y="2788920"/>
            <a:ext cx="365760" cy="365760"/>
          </a:xfrm>
          <a:prstGeom prst="ellipse">
            <a:avLst/>
          </a:prstGeom>
          <a:solidFill>
            <a:srgbClr val="008C8C"/>
          </a:solidFill>
          <a:ln>
            <a:noFill/>
          </a:ln>
        </p:spPr>
        <p:txBody>
          <a:bodyPr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3</a:t>
            </a:r>
            <a:endParaRPr lang="es-AR" sz="1300"/>
          </a:p>
        </p:txBody>
      </p:sp>
      <p:sp>
        <p:nvSpPr>
          <p:cNvPr id="16" name="Text 16"/>
          <p:cNvSpPr txBox="1"/>
          <p:nvPr/>
        </p:nvSpPr>
        <p:spPr>
          <a:xfrm>
            <a:off x="4992624" y="3273552"/>
            <a:ext cx="19019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LEER #1</a:t>
            </a:r>
            <a:endParaRPr lang="es-AR" sz="1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9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S1 · output</a:t>
            </a:r>
            <a:endParaRPr lang="es-AR" sz="950"/>
          </a:p>
        </p:txBody>
      </p:sp>
      <p:cxnSp>
        <p:nvCxnSpPr>
          <p:cNvPr id="17" name="Connector 17"/>
          <p:cNvCxnSpPr/>
          <p:nvPr/>
        </p:nvCxnSpPr>
        <p:spPr>
          <a:xfrm>
            <a:off x="5541264" y="2971800"/>
            <a:ext cx="1773936" cy="0"/>
          </a:xfrm>
          <a:prstGeom prst="line">
            <a:avLst/>
          </a:prstGeom>
          <a:ln w="18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18" name="Circle 18"/>
          <p:cNvSpPr/>
          <p:nvPr/>
        </p:nvSpPr>
        <p:spPr>
          <a:xfrm>
            <a:off x="7406640" y="2788920"/>
            <a:ext cx="365760" cy="365760"/>
          </a:xfrm>
          <a:prstGeom prst="ellipse">
            <a:avLst/>
          </a:prstGeom>
          <a:solidFill>
            <a:srgbClr val="008C8C"/>
          </a:solidFill>
          <a:ln>
            <a:noFill/>
          </a:ln>
        </p:spPr>
        <p:txBody>
          <a:bodyPr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4</a:t>
            </a:r>
            <a:endParaRPr lang="es-AR" sz="1300"/>
          </a:p>
        </p:txBody>
      </p:sp>
      <p:sp>
        <p:nvSpPr>
          <p:cNvPr id="19" name="Text 19"/>
          <p:cNvSpPr txBox="1"/>
          <p:nvPr/>
        </p:nvSpPr>
        <p:spPr>
          <a:xfrm>
            <a:off x="7242048" y="3273552"/>
            <a:ext cx="19019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ESPERAR</a:t>
            </a:r>
            <a:endParaRPr lang="es-AR" sz="1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9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1 sleep · back edge</a:t>
            </a:r>
            <a:endParaRPr lang="es-AR" sz="950"/>
          </a:p>
        </p:txBody>
      </p:sp>
      <p:cxnSp>
        <p:nvCxnSpPr>
          <p:cNvPr id="20" name="Connector 20"/>
          <p:cNvCxnSpPr/>
          <p:nvPr/>
        </p:nvCxnSpPr>
        <p:spPr>
          <a:xfrm>
            <a:off x="7790688" y="2971800"/>
            <a:ext cx="1773936" cy="0"/>
          </a:xfrm>
          <a:prstGeom prst="line">
            <a:avLst/>
          </a:prstGeom>
          <a:ln w="18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21" name="Circle 21"/>
          <p:cNvSpPr/>
          <p:nvPr/>
        </p:nvSpPr>
        <p:spPr>
          <a:xfrm>
            <a:off x="9656064" y="2788920"/>
            <a:ext cx="365760" cy="365760"/>
          </a:xfrm>
          <a:prstGeom prst="ellipse">
            <a:avLst/>
          </a:prstGeom>
          <a:solidFill>
            <a:srgbClr val="008C8C"/>
          </a:solidFill>
          <a:ln>
            <a:noFill/>
          </a:ln>
        </p:spPr>
        <p:txBody>
          <a:bodyPr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5</a:t>
            </a:r>
            <a:endParaRPr lang="es-AR" sz="1300"/>
          </a:p>
        </p:txBody>
      </p:sp>
      <p:sp>
        <p:nvSpPr>
          <p:cNvPr id="22" name="Text 22"/>
          <p:cNvSpPr txBox="1"/>
          <p:nvPr/>
        </p:nvSpPr>
        <p:spPr>
          <a:xfrm>
            <a:off x="9491472" y="3273552"/>
            <a:ext cx="19019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LEER #2</a:t>
            </a:r>
            <a:endParaRPr lang="es-AR" sz="1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9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S2 · output → close</a:t>
            </a:r>
            <a:endParaRPr lang="es-AR" sz="950"/>
          </a:p>
        </p:txBody>
      </p:sp>
      <p:sp>
        <p:nvSpPr>
          <p:cNvPr id="23" name="Text 23"/>
          <p:cNvSpPr txBox="1"/>
          <p:nvPr/>
        </p:nvSpPr>
        <p:spPr>
          <a:xfrm>
            <a:off x="658368" y="4370832"/>
            <a:ext cx="5074920" cy="914400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ORÁCULO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return 0 · 2 reads · 2 outputs · 1 sleep · 1 close</a:t>
            </a:r>
            <a:endParaRPr lang="es-AR" sz="1500"/>
          </a:p>
        </p:txBody>
      </p:sp>
      <p:sp>
        <p:nvSpPr>
          <p:cNvPr id="24" name="Text 24"/>
          <p:cNvSpPr txBox="1"/>
          <p:nvPr/>
        </p:nvSpPr>
        <p:spPr>
          <a:xfrm>
            <a:off x="5943600" y="4370832"/>
            <a:ext cx="5184648" cy="914400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POR QUÉ ESTE PATH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demuestra la única vuelta finita y evita rate=1 / DEF-001</a:t>
            </a:r>
            <a:endParaRPr lang="es-AR" sz="1400"/>
          </a:p>
        </p:txBody>
      </p:sp>
      <p:sp>
        <p:nvSpPr>
          <p:cNvPr id="25" name="Text 25"/>
          <p:cNvSpPr txBox="1"/>
          <p:nvPr/>
        </p:nvSpPr>
        <p:spPr>
          <a:xfrm>
            <a:off x="658368" y="5504688"/>
            <a:ext cx="10469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No se afirma “all paths”: hay edges infeasibles y retries ambientales no acotados.</a:t>
            </a:r>
            <a:endParaRPr lang="es-AR" sz="1200"/>
          </a:p>
        </p:txBody>
      </p:sp>
      <p:cxnSp>
        <p:nvCxnSpPr>
          <p:cNvPr id="26" name="Connector 26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27" name="Text 27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docs/tsse/cft_acquisition_run_samples.md:107-160 · docs/tsse/cft_cases.md:61,92</a:t>
            </a:r>
            <a:endParaRPr lang="es-AR" sz="750"/>
          </a:p>
        </p:txBody>
      </p:sp>
      <p:sp>
        <p:nvSpPr>
          <p:cNvPr id="28" name="Text 28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4</a:t>
            </a:r>
            <a:endParaRPr lang="es-AR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AISLAMIENTO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Arquitectura unitaria: producción real, entorno controlado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05 / 09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685800" y="1481328"/>
            <a:ext cx="2788920" cy="3520440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DOBLES CONTROLADOS</a:t>
            </a:r>
            <a:endParaRPr lang="es-AR" sz="12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CMock ADS1263</a:t>
            </a:r>
            <a:endParaRPr lang="es-AR" sz="16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wrappers stdio / wait</a:t>
            </a:r>
            <a:endParaRPr lang="es-AR" sz="14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logger spy</a:t>
            </a:r>
            <a:endParaRPr lang="es-AR" sz="14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scripts de outcomes</a:t>
            </a:r>
            <a:endParaRPr lang="es-AR" sz="1400"/>
          </a:p>
        </p:txBody>
      </p:sp>
      <p:cxnSp>
        <p:nvCxnSpPr>
          <p:cNvPr id="7" name="Connector 7"/>
          <p:cNvCxnSpPr/>
          <p:nvPr/>
        </p:nvCxnSpPr>
        <p:spPr>
          <a:xfrm>
            <a:off x="3502152" y="3218688"/>
            <a:ext cx="777240" cy="0"/>
          </a:xfrm>
          <a:prstGeom prst="line">
            <a:avLst/>
          </a:prstGeom>
          <a:ln w="23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8" name="Text 8"/>
          <p:cNvSpPr txBox="1"/>
          <p:nvPr/>
        </p:nvSpPr>
        <p:spPr>
          <a:xfrm>
            <a:off x="4315968" y="1481328"/>
            <a:ext cx="35661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SUT REAL</a:t>
            </a:r>
            <a:endParaRPr lang="es-AR" sz="12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ads1263.c</a:t>
            </a:r>
            <a:endParaRPr lang="es-AR" sz="2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+</a:t>
            </a:r>
            <a:endParaRPr lang="es-AR" sz="15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acquisition.c</a:t>
            </a:r>
            <a:endParaRPr lang="es-AR" sz="2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compilados en host</a:t>
            </a:r>
            <a:endParaRPr lang="es-AR" sz="1300"/>
          </a:p>
        </p:txBody>
      </p:sp>
      <p:cxnSp>
        <p:nvCxnSpPr>
          <p:cNvPr id="9" name="Connector 9"/>
          <p:cNvCxnSpPr/>
          <p:nvPr/>
        </p:nvCxnSpPr>
        <p:spPr>
          <a:xfrm>
            <a:off x="7909560" y="3218688"/>
            <a:ext cx="777240" cy="0"/>
          </a:xfrm>
          <a:prstGeom prst="line">
            <a:avLst/>
          </a:prstGeom>
          <a:ln w="23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10" name="Text 10"/>
          <p:cNvSpPr txBox="1"/>
          <p:nvPr/>
        </p:nvSpPr>
        <p:spPr>
          <a:xfrm>
            <a:off x="8723376" y="1481328"/>
            <a:ext cx="2606040" cy="3520440"/>
          </a:xfrm>
          <a:prstGeom prst="roundRect">
            <a:avLst/>
          </a:prstGeom>
          <a:solidFill>
            <a:srgbClr val="DDEDE5"/>
          </a:solidFill>
          <a:ln w="12700">
            <a:solidFill>
              <a:srgbClr val="2E7D62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ORÁCULOS</a:t>
            </a:r>
            <a:endParaRPr lang="es-AR" sz="12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status</a:t>
            </a:r>
            <a:endParaRPr lang="es-AR" sz="15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orden y conteos</a:t>
            </a:r>
            <a:endParaRPr lang="es-AR" sz="15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muestras / CSV</a:t>
            </a:r>
            <a:endParaRPr lang="es-AR" sz="15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cleanup</a:t>
            </a:r>
            <a:endParaRPr lang="es-AR" sz="1500"/>
          </a:p>
        </p:txBody>
      </p:sp>
      <p:sp>
        <p:nvSpPr>
          <p:cNvPr id="11" name="Text 11"/>
          <p:cNvSpPr txBox="1"/>
          <p:nvPr/>
        </p:nvSpPr>
        <p:spPr>
          <a:xfrm>
            <a:off x="685800" y="5303520"/>
            <a:ext cx="50749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72 no-CFT</a:t>
            </a:r>
            <a:endParaRPr lang="es-AR" sz="2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66 ADS1263 + 6 robustez acquisition</a:t>
            </a:r>
            <a:endParaRPr lang="es-AR" sz="1000"/>
          </a:p>
        </p:txBody>
      </p:sp>
      <p:sp>
        <p:nvSpPr>
          <p:cNvPr id="12" name="Text 12"/>
          <p:cNvSpPr txBox="1"/>
          <p:nvPr/>
        </p:nvSpPr>
        <p:spPr>
          <a:xfrm>
            <a:off x="5961888" y="5303520"/>
            <a:ext cx="5367528" cy="585216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3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24 CFT</a:t>
            </a:r>
            <a:endParaRPr lang="es-AR" sz="23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P01–P24, todos PASS</a:t>
            </a:r>
            <a:endParaRPr lang="es-AR" sz="1000"/>
          </a:p>
        </p:txBody>
      </p:sp>
      <p:cxnSp>
        <p:nvCxnSpPr>
          <p:cNvPr id="13" name="Connector 13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14" name="Text 14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.../ads1263_tests_report.json · .../acquisition_tests_report.json · .../04_acquisition_cft_clean_test_all_after_fix.typescript</a:t>
            </a:r>
            <a:endParaRPr lang="es-AR" sz="750"/>
          </a:p>
        </p:txBody>
      </p:sp>
      <p:sp>
        <p:nvSpPr>
          <p:cNvPr id="15" name="Text 15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5</a:t>
            </a:r>
            <a:endParaRPr lang="es-AR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RESULTADOS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Resultado actual: ejecución limpia y repetible en host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06 / 09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Rect 6"/>
          <p:cNvSpPr/>
          <p:nvPr/>
        </p:nvSpPr>
        <p:spPr>
          <a:xfrm>
            <a:off x="594360" y="1417320"/>
            <a:ext cx="33558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</p:sp>
      <p:sp>
        <p:nvSpPr>
          <p:cNvPr id="7" name="Rect 7"/>
          <p:cNvSpPr/>
          <p:nvPr/>
        </p:nvSpPr>
        <p:spPr>
          <a:xfrm>
            <a:off x="594360" y="1417320"/>
            <a:ext cx="73152" cy="1097280"/>
          </a:xfrm>
          <a:prstGeom prst="roundRect">
            <a:avLst/>
          </a:prstGeom>
          <a:solidFill>
            <a:srgbClr val="2F6B9A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95528" y="1527048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72 / 72</a:t>
            </a:r>
            <a:endParaRPr lang="es-AR" sz="2700"/>
          </a:p>
        </p:txBody>
      </p:sp>
      <p:sp>
        <p:nvSpPr>
          <p:cNvPr id="9" name="Text 9"/>
          <p:cNvSpPr txBox="1"/>
          <p:nvPr/>
        </p:nvSpPr>
        <p:spPr>
          <a:xfrm>
            <a:off x="795528" y="2075688"/>
            <a:ext cx="304495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UNITARIAS NO-CFT · PASS</a:t>
            </a:r>
            <a:endParaRPr lang="es-AR" sz="1100"/>
          </a:p>
        </p:txBody>
      </p:sp>
      <p:sp>
        <p:nvSpPr>
          <p:cNvPr id="10" name="Rect 10"/>
          <p:cNvSpPr/>
          <p:nvPr/>
        </p:nvSpPr>
        <p:spPr>
          <a:xfrm>
            <a:off x="4160520" y="1417320"/>
            <a:ext cx="33558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</p:sp>
      <p:sp>
        <p:nvSpPr>
          <p:cNvPr id="11" name="Rect 11"/>
          <p:cNvSpPr/>
          <p:nvPr/>
        </p:nvSpPr>
        <p:spPr>
          <a:xfrm>
            <a:off x="4160520" y="1417320"/>
            <a:ext cx="73152" cy="109728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361688" y="1527048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24 / 24</a:t>
            </a:r>
            <a:endParaRPr lang="es-AR" sz="2700"/>
          </a:p>
        </p:txBody>
      </p:sp>
      <p:sp>
        <p:nvSpPr>
          <p:cNvPr id="13" name="Text 13"/>
          <p:cNvSpPr txBox="1"/>
          <p:nvPr/>
        </p:nvSpPr>
        <p:spPr>
          <a:xfrm>
            <a:off x="4361688" y="2075688"/>
            <a:ext cx="304495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PATHS CFT · PASS</a:t>
            </a:r>
            <a:endParaRPr lang="es-AR" sz="1100"/>
          </a:p>
        </p:txBody>
      </p:sp>
      <p:sp>
        <p:nvSpPr>
          <p:cNvPr id="14" name="Rect 14"/>
          <p:cNvSpPr/>
          <p:nvPr/>
        </p:nvSpPr>
        <p:spPr>
          <a:xfrm>
            <a:off x="7726680" y="1417320"/>
            <a:ext cx="34015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</p:sp>
      <p:sp>
        <p:nvSpPr>
          <p:cNvPr id="15" name="Rect 15"/>
          <p:cNvSpPr/>
          <p:nvPr/>
        </p:nvSpPr>
        <p:spPr>
          <a:xfrm>
            <a:off x="7726680" y="1417320"/>
            <a:ext cx="73152" cy="1097280"/>
          </a:xfrm>
          <a:prstGeom prst="roundRect">
            <a:avLst/>
          </a:prstGeom>
          <a:solidFill>
            <a:srgbClr val="2E7D6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7927848" y="1527048"/>
            <a:ext cx="309067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71 / 71</a:t>
            </a:r>
            <a:endParaRPr lang="es-AR" sz="2700"/>
          </a:p>
        </p:txBody>
      </p:sp>
      <p:sp>
        <p:nvSpPr>
          <p:cNvPr id="17" name="Text 17"/>
          <p:cNvSpPr txBox="1"/>
          <p:nvPr/>
        </p:nvSpPr>
        <p:spPr>
          <a:xfrm>
            <a:off x="7927848" y="2075688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INTEGRACIÓN · RUN 1 PASS</a:t>
            </a:r>
            <a:endParaRPr lang="es-AR" sz="1100"/>
          </a:p>
        </p:txBody>
      </p:sp>
      <p:sp>
        <p:nvSpPr>
          <p:cNvPr id="18" name="Rect 18"/>
          <p:cNvSpPr/>
          <p:nvPr/>
        </p:nvSpPr>
        <p:spPr>
          <a:xfrm>
            <a:off x="7726680" y="2761488"/>
            <a:ext cx="3401568" cy="1097280"/>
          </a:xfrm>
          <a:prstGeom prst="roundRect">
            <a:avLst/>
          </a:prstGeom>
          <a:solidFill>
            <a:srgbClr val="DDEDE5"/>
          </a:solidFill>
          <a:ln w="12700">
            <a:solidFill>
              <a:srgbClr val="CAD5DF"/>
            </a:solidFill>
          </a:ln>
        </p:spPr>
      </p:sp>
      <p:sp>
        <p:nvSpPr>
          <p:cNvPr id="19" name="Rect 19"/>
          <p:cNvSpPr/>
          <p:nvPr/>
        </p:nvSpPr>
        <p:spPr>
          <a:xfrm>
            <a:off x="7726680" y="2761488"/>
            <a:ext cx="73152" cy="1097280"/>
          </a:xfrm>
          <a:prstGeom prst="roundRect">
            <a:avLst/>
          </a:prstGeom>
          <a:solidFill>
            <a:srgbClr val="2E7D62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927848" y="2871216"/>
            <a:ext cx="309067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71 / 71</a:t>
            </a:r>
            <a:endParaRPr lang="es-AR" sz="2700"/>
          </a:p>
        </p:txBody>
      </p:sp>
      <p:sp>
        <p:nvSpPr>
          <p:cNvPr id="21" name="Text 21"/>
          <p:cNvSpPr txBox="1"/>
          <p:nvPr/>
        </p:nvSpPr>
        <p:spPr>
          <a:xfrm>
            <a:off x="7927848" y="3419856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INTEGRACIÓN · RUN 2 PASS</a:t>
            </a:r>
            <a:endParaRPr lang="es-AR" sz="1100"/>
          </a:p>
        </p:txBody>
      </p:sp>
      <p:sp>
        <p:nvSpPr>
          <p:cNvPr id="22" name="Text 22"/>
          <p:cNvSpPr txBox="1"/>
          <p:nvPr/>
        </p:nvSpPr>
        <p:spPr>
          <a:xfrm>
            <a:off x="594360" y="2761488"/>
            <a:ext cx="6922008" cy="1097280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Las dos corridas formales declaran y ejecutan exactamente 71 escenarios</a:t>
            </a:r>
            <a:endParaRPr lang="es-AR" sz="20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 failed · 0 blocked · declaration_matches_execution=true</a:t>
            </a:r>
            <a:endParaRPr lang="es-AR" sz="1200"/>
          </a:p>
        </p:txBody>
      </p:sp>
      <p:sp>
        <p:nvSpPr>
          <p:cNvPr id="23" name="Text 23"/>
          <p:cNvSpPr txBox="1"/>
          <p:nvPr/>
        </p:nvSpPr>
        <p:spPr>
          <a:xfrm>
            <a:off x="594360" y="4224528"/>
            <a:ext cx="51206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Qué cubre integración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CLI · CSV · procesos · signals · fake HAL · errores</a:t>
            </a:r>
            <a:endParaRPr lang="es-AR" sz="1300"/>
          </a:p>
        </p:txBody>
      </p:sp>
      <p:sp>
        <p:nvSpPr>
          <p:cNvPr id="24" name="Text 24"/>
          <p:cNvSpPr txBox="1"/>
          <p:nvPr/>
        </p:nvSpPr>
        <p:spPr>
          <a:xfrm>
            <a:off x="5916168" y="4224528"/>
            <a:ext cx="5212080" cy="1115568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Qué no prueba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bus físico · libgpiod real · ADC · timing target</a:t>
            </a:r>
            <a:endParaRPr lang="es-AR" sz="1300"/>
          </a:p>
        </p:txBody>
      </p:sp>
      <p:sp>
        <p:nvSpPr>
          <p:cNvPr id="25" name="Text 25"/>
          <p:cNvSpPr txBox="1"/>
          <p:nvPr/>
        </p:nvSpPr>
        <p:spPr>
          <a:xfrm>
            <a:off x="594360" y="5559552"/>
            <a:ext cx="105338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Sin cambios de producción y sin acceso a hardware durante estas ejecuciones.</a:t>
            </a:r>
            <a:endParaRPr lang="es-AR" sz="1200"/>
          </a:p>
        </p:txBody>
      </p:sp>
      <p:cxnSp>
        <p:nvCxnSpPr>
          <p:cNvPr id="26" name="Connector 26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27" name="Text 27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.../04_unitarias/milestone_4_20261015T161203Z/*.json · .../05_integracion_host/.../run_{1,2}/summary.json</a:t>
            </a:r>
            <a:endParaRPr lang="es-AR" sz="750"/>
          </a:p>
        </p:txBody>
      </p:sp>
      <p:sp>
        <p:nvSpPr>
          <p:cNvPr id="28" name="Text 28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6</a:t>
            </a:r>
            <a:endParaRPr lang="es-AR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MEDICIÓN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Cobertura por módulo y trazabilidad hasta la evidencia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07 / 09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389888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ads1263.c · estado actual</a:t>
            </a:r>
            <a:endParaRPr lang="es-AR" sz="1600"/>
          </a:p>
        </p:txBody>
      </p:sp>
      <p:sp>
        <p:nvSpPr>
          <p:cNvPr id="7" name="Text 7"/>
          <p:cNvSpPr txBox="1"/>
          <p:nvPr/>
        </p:nvSpPr>
        <p:spPr>
          <a:xfrm>
            <a:off x="594360" y="184708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Líneas</a:t>
            </a:r>
            <a:endParaRPr lang="es-AR" sz="1200"/>
          </a:p>
        </p:txBody>
      </p:sp>
      <p:sp>
        <p:nvSpPr>
          <p:cNvPr id="8" name="Rect 8"/>
          <p:cNvSpPr/>
          <p:nvPr/>
        </p:nvSpPr>
        <p:spPr>
          <a:xfrm>
            <a:off x="1719072" y="1865376"/>
            <a:ext cx="2816352" cy="219456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1719072" y="1865376"/>
            <a:ext cx="1915627" cy="219456"/>
          </a:xfrm>
          <a:prstGeom prst="roundRect">
            <a:avLst/>
          </a:prstGeom>
          <a:solidFill>
            <a:srgbClr val="2F6B9A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645152" y="1828800"/>
            <a:ext cx="1042416" cy="3017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151/222</a:t>
            </a:r>
            <a:endParaRPr lang="es-AR" sz="1200"/>
          </a:p>
        </p:txBody>
      </p:sp>
      <p:sp>
        <p:nvSpPr>
          <p:cNvPr id="11" name="Text 11"/>
          <p:cNvSpPr txBox="1"/>
          <p:nvPr/>
        </p:nvSpPr>
        <p:spPr>
          <a:xfrm>
            <a:off x="594360" y="2459736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Funciones</a:t>
            </a:r>
            <a:endParaRPr lang="es-AR" sz="1200"/>
          </a:p>
        </p:txBody>
      </p:sp>
      <p:sp>
        <p:nvSpPr>
          <p:cNvPr id="12" name="Rect 12"/>
          <p:cNvSpPr/>
          <p:nvPr/>
        </p:nvSpPr>
        <p:spPr>
          <a:xfrm>
            <a:off x="1719072" y="2478024"/>
            <a:ext cx="2816352" cy="219456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</p:sp>
      <p:sp>
        <p:nvSpPr>
          <p:cNvPr id="13" name="Rect 13"/>
          <p:cNvSpPr/>
          <p:nvPr/>
        </p:nvSpPr>
        <p:spPr>
          <a:xfrm>
            <a:off x="1719072" y="2478024"/>
            <a:ext cx="2288286" cy="219456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645152" y="2441448"/>
            <a:ext cx="1042416" cy="3017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13/16</a:t>
            </a:r>
            <a:endParaRPr lang="es-AR" sz="1200"/>
          </a:p>
        </p:txBody>
      </p:sp>
      <p:sp>
        <p:nvSpPr>
          <p:cNvPr id="15" name="Text 15"/>
          <p:cNvSpPr txBox="1"/>
          <p:nvPr/>
        </p:nvSpPr>
        <p:spPr>
          <a:xfrm>
            <a:off x="594360" y="3072384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Ramas</a:t>
            </a:r>
            <a:endParaRPr lang="es-AR" sz="1200"/>
          </a:p>
        </p:txBody>
      </p:sp>
      <p:sp>
        <p:nvSpPr>
          <p:cNvPr id="16" name="Rect 16"/>
          <p:cNvSpPr/>
          <p:nvPr/>
        </p:nvSpPr>
        <p:spPr>
          <a:xfrm>
            <a:off x="1719072" y="3090672"/>
            <a:ext cx="2816352" cy="219456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</p:sp>
      <p:sp>
        <p:nvSpPr>
          <p:cNvPr id="17" name="Rect 17"/>
          <p:cNvSpPr/>
          <p:nvPr/>
        </p:nvSpPr>
        <p:spPr>
          <a:xfrm>
            <a:off x="1719072" y="3090672"/>
            <a:ext cx="1891580" cy="219456"/>
          </a:xfrm>
          <a:prstGeom prst="roundRect">
            <a:avLst/>
          </a:prstGeom>
          <a:solidFill>
            <a:srgbClr val="2E7D62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645152" y="3054096"/>
            <a:ext cx="1042416" cy="3017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90/134</a:t>
            </a:r>
            <a:endParaRPr lang="es-AR" sz="1200"/>
          </a:p>
        </p:txBody>
      </p:sp>
      <p:sp>
        <p:nvSpPr>
          <p:cNvPr id="19" name="Text 19"/>
          <p:cNvSpPr txBox="1"/>
          <p:nvPr/>
        </p:nvSpPr>
        <p:spPr>
          <a:xfrm>
            <a:off x="5989320" y="1389888"/>
            <a:ext cx="5138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acquisition.c · avance</a:t>
            </a:r>
            <a:endParaRPr lang="es-AR" sz="1600"/>
          </a:p>
        </p:txBody>
      </p:sp>
      <p:sp>
        <p:nvSpPr>
          <p:cNvPr id="20" name="Text 20"/>
          <p:cNvSpPr txBox="1"/>
          <p:nvPr/>
        </p:nvSpPr>
        <p:spPr>
          <a:xfrm>
            <a:off x="5989320" y="184708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Líneas</a:t>
            </a:r>
            <a:endParaRPr lang="es-AR" sz="1200"/>
          </a:p>
        </p:txBody>
      </p:sp>
      <p:sp>
        <p:nvSpPr>
          <p:cNvPr id="21" name="Rect 21"/>
          <p:cNvSpPr/>
          <p:nvPr/>
        </p:nvSpPr>
        <p:spPr>
          <a:xfrm>
            <a:off x="7114032" y="1865376"/>
            <a:ext cx="2788920" cy="219456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</p:sp>
      <p:sp>
        <p:nvSpPr>
          <p:cNvPr id="22" name="Rect 22"/>
          <p:cNvSpPr/>
          <p:nvPr/>
        </p:nvSpPr>
        <p:spPr>
          <a:xfrm>
            <a:off x="7114032" y="1865376"/>
            <a:ext cx="1958884" cy="219456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</p:sp>
      <p:cxnSp>
        <p:nvCxnSpPr>
          <p:cNvPr id="23" name="Connector 23"/>
          <p:cNvCxnSpPr/>
          <p:nvPr/>
        </p:nvCxnSpPr>
        <p:spPr>
          <a:xfrm>
            <a:off x="8010471" y="1819656"/>
            <a:ext cx="0" cy="320040"/>
          </a:xfrm>
          <a:prstGeom prst="line">
            <a:avLst/>
          </a:prstGeom>
          <a:ln w="18000">
            <a:solidFill>
              <a:srgbClr val="E76F51"/>
            </a:solidFill>
            <a:headEnd type="none"/>
            <a:tailEnd type="none"/>
          </a:ln>
        </p:spPr>
      </p:cxnSp>
      <p:sp>
        <p:nvSpPr>
          <p:cNvPr id="24" name="Text 24"/>
          <p:cNvSpPr txBox="1"/>
          <p:nvPr/>
        </p:nvSpPr>
        <p:spPr>
          <a:xfrm>
            <a:off x="10030968" y="1828800"/>
            <a:ext cx="1078992" cy="3017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118/168</a:t>
            </a:r>
            <a:endParaRPr lang="es-AR" sz="1200"/>
          </a:p>
        </p:txBody>
      </p:sp>
      <p:sp>
        <p:nvSpPr>
          <p:cNvPr id="25" name="Text 25"/>
          <p:cNvSpPr txBox="1"/>
          <p:nvPr/>
        </p:nvSpPr>
        <p:spPr>
          <a:xfrm>
            <a:off x="5989320" y="2459736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Funciones</a:t>
            </a:r>
            <a:endParaRPr lang="es-AR" sz="1200"/>
          </a:p>
        </p:txBody>
      </p:sp>
      <p:sp>
        <p:nvSpPr>
          <p:cNvPr id="26" name="Rect 26"/>
          <p:cNvSpPr/>
          <p:nvPr/>
        </p:nvSpPr>
        <p:spPr>
          <a:xfrm>
            <a:off x="7114032" y="2478024"/>
            <a:ext cx="2788920" cy="219456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</p:sp>
      <p:sp>
        <p:nvSpPr>
          <p:cNvPr id="27" name="Rect 27"/>
          <p:cNvSpPr/>
          <p:nvPr/>
        </p:nvSpPr>
        <p:spPr>
          <a:xfrm>
            <a:off x="7114032" y="2478024"/>
            <a:ext cx="1930791" cy="219456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</p:sp>
      <p:cxnSp>
        <p:nvCxnSpPr>
          <p:cNvPr id="28" name="Connector 28"/>
          <p:cNvCxnSpPr/>
          <p:nvPr/>
        </p:nvCxnSpPr>
        <p:spPr>
          <a:xfrm>
            <a:off x="8401226" y="2432304"/>
            <a:ext cx="0" cy="320040"/>
          </a:xfrm>
          <a:prstGeom prst="line">
            <a:avLst/>
          </a:prstGeom>
          <a:ln w="18000">
            <a:solidFill>
              <a:srgbClr val="E76F51"/>
            </a:solidFill>
            <a:headEnd type="none"/>
            <a:tailEnd type="none"/>
          </a:ln>
        </p:spPr>
      </p:cxnSp>
      <p:sp>
        <p:nvSpPr>
          <p:cNvPr id="29" name="Text 29"/>
          <p:cNvSpPr txBox="1"/>
          <p:nvPr/>
        </p:nvSpPr>
        <p:spPr>
          <a:xfrm>
            <a:off x="10030968" y="2441448"/>
            <a:ext cx="1078992" cy="3017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9/13</a:t>
            </a:r>
            <a:endParaRPr lang="es-AR" sz="1200"/>
          </a:p>
        </p:txBody>
      </p:sp>
      <p:sp>
        <p:nvSpPr>
          <p:cNvPr id="30" name="Text 30"/>
          <p:cNvSpPr txBox="1"/>
          <p:nvPr/>
        </p:nvSpPr>
        <p:spPr>
          <a:xfrm>
            <a:off x="5989320" y="3072384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Ramas</a:t>
            </a:r>
            <a:endParaRPr lang="es-AR" sz="1200"/>
          </a:p>
        </p:txBody>
      </p:sp>
      <p:sp>
        <p:nvSpPr>
          <p:cNvPr id="31" name="Rect 31"/>
          <p:cNvSpPr/>
          <p:nvPr/>
        </p:nvSpPr>
        <p:spPr>
          <a:xfrm>
            <a:off x="7114032" y="3090672"/>
            <a:ext cx="2788920" cy="219456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</p:sp>
      <p:sp>
        <p:nvSpPr>
          <p:cNvPr id="32" name="Rect 32"/>
          <p:cNvSpPr/>
          <p:nvPr/>
        </p:nvSpPr>
        <p:spPr>
          <a:xfrm>
            <a:off x="7114032" y="3090672"/>
            <a:ext cx="1944905" cy="219456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</p:sp>
      <p:cxnSp>
        <p:nvCxnSpPr>
          <p:cNvPr id="33" name="Connector 33"/>
          <p:cNvCxnSpPr/>
          <p:nvPr/>
        </p:nvCxnSpPr>
        <p:spPr>
          <a:xfrm>
            <a:off x="8068136" y="3044952"/>
            <a:ext cx="0" cy="320040"/>
          </a:xfrm>
          <a:prstGeom prst="line">
            <a:avLst/>
          </a:prstGeom>
          <a:ln w="18000">
            <a:solidFill>
              <a:srgbClr val="E76F51"/>
            </a:solidFill>
            <a:headEnd type="none"/>
            <a:tailEnd type="none"/>
          </a:ln>
        </p:spPr>
      </p:cxnSp>
      <p:sp>
        <p:nvSpPr>
          <p:cNvPr id="34" name="Text 34"/>
          <p:cNvSpPr txBox="1"/>
          <p:nvPr/>
        </p:nvSpPr>
        <p:spPr>
          <a:xfrm>
            <a:off x="10030968" y="3054096"/>
            <a:ext cx="1078992" cy="3017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53/76</a:t>
            </a:r>
            <a:endParaRPr lang="es-AR" sz="1200"/>
          </a:p>
        </p:txBody>
      </p:sp>
      <p:sp>
        <p:nvSpPr>
          <p:cNvPr id="35" name="Text 35"/>
          <p:cNvSpPr txBox="1"/>
          <p:nvPr/>
        </p:nvSpPr>
        <p:spPr>
          <a:xfrm>
            <a:off x="5989320" y="3767328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marca naranja = medición previa</a:t>
            </a:r>
            <a:endParaRPr lang="es-AR" sz="1000"/>
          </a:p>
        </p:txBody>
      </p:sp>
      <p:sp>
        <p:nvSpPr>
          <p:cNvPr id="36" name="Text 36"/>
          <p:cNvSpPr txBox="1"/>
          <p:nvPr/>
        </p:nvSpPr>
        <p:spPr>
          <a:xfrm>
            <a:off x="594360" y="4370832"/>
            <a:ext cx="33375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REQUISITO</a:t>
            </a:r>
            <a:endParaRPr lang="es-AR" sz="11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REQ / TST / ROB</a:t>
            </a:r>
            <a:endParaRPr lang="es-AR" sz="1700"/>
          </a:p>
        </p:txBody>
      </p:sp>
      <p:cxnSp>
        <p:nvCxnSpPr>
          <p:cNvPr id="37" name="Connector 37"/>
          <p:cNvCxnSpPr/>
          <p:nvPr/>
        </p:nvCxnSpPr>
        <p:spPr>
          <a:xfrm>
            <a:off x="3931920" y="4873752"/>
            <a:ext cx="201168" cy="0"/>
          </a:xfrm>
          <a:prstGeom prst="line">
            <a:avLst/>
          </a:prstGeom>
          <a:ln w="18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38" name="Text 38"/>
          <p:cNvSpPr txBox="1"/>
          <p:nvPr/>
        </p:nvSpPr>
        <p:spPr>
          <a:xfrm>
            <a:off x="4160520" y="4370832"/>
            <a:ext cx="33375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CASO</a:t>
            </a:r>
            <a:endParaRPr lang="es-AR" sz="11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ID + oráculo</a:t>
            </a:r>
            <a:endParaRPr lang="es-AR" sz="1700"/>
          </a:p>
        </p:txBody>
      </p:sp>
      <p:cxnSp>
        <p:nvCxnSpPr>
          <p:cNvPr id="39" name="Connector 39"/>
          <p:cNvCxnSpPr/>
          <p:nvPr/>
        </p:nvCxnSpPr>
        <p:spPr>
          <a:xfrm>
            <a:off x="7498080" y="4873752"/>
            <a:ext cx="201168" cy="0"/>
          </a:xfrm>
          <a:prstGeom prst="line">
            <a:avLst/>
          </a:prstGeom>
          <a:ln w="18000">
            <a:solidFill>
              <a:srgbClr val="008C8C"/>
            </a:solidFill>
            <a:headEnd type="none"/>
            <a:tailEnd type="triangle" w="sm" len="sm"/>
          </a:ln>
        </p:spPr>
      </p:cxnSp>
      <p:sp>
        <p:nvSpPr>
          <p:cNvPr id="40" name="Text 40"/>
          <p:cNvSpPr txBox="1"/>
          <p:nvPr/>
        </p:nvSpPr>
        <p:spPr>
          <a:xfrm>
            <a:off x="7726680" y="4370832"/>
            <a:ext cx="3401568" cy="1005840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RESULTADO</a:t>
            </a:r>
            <a:endParaRPr lang="es-AR" sz="11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raw + resumen</a:t>
            </a:r>
            <a:endParaRPr lang="es-AR" sz="1700"/>
          </a:p>
        </p:txBody>
      </p:sp>
      <p:sp>
        <p:nvSpPr>
          <p:cNvPr id="41" name="Text 41"/>
          <p:cNvSpPr txBox="1"/>
          <p:nvPr/>
        </p:nvSpPr>
        <p:spPr>
          <a:xfrm>
            <a:off x="594360" y="5650992"/>
            <a:ext cx="10533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Cobertura guía preguntas; no existe un umbral inventado ni una afirmación de suficiencia por porcentaje.</a:t>
            </a:r>
            <a:endParaRPr lang="es-AR" sz="1100"/>
          </a:p>
        </p:txBody>
      </p:sp>
      <p:cxnSp>
        <p:nvCxnSpPr>
          <p:cNvPr id="42" name="Connector 42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43" name="Text 43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.../06_cobertura/milestone_4_.../{ads1263,acquisition}/ · docs/tsse/{matriz_trazabilidad,catalogo_casos}.md</a:t>
            </a:r>
            <a:endParaRPr lang="es-AR" sz="750"/>
          </a:p>
        </p:txBody>
      </p:sp>
      <p:sp>
        <p:nvSpPr>
          <p:cNvPr id="44" name="Text 44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7</a:t>
            </a:r>
            <a:endParaRPr lang="es-AR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RIESGO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Hallazgos: distinguir diagnóstico, bloqueo y defecto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08 / 09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417320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CPPCHECK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35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41</a:t>
            </a:r>
            <a:endParaRPr lang="es-AR" sz="35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hallazgos style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 errores / warnings / performance / portability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2E7D62"/>
                </a:solidFill>
              </a:rPr>
              <a:t>0 defectos nuevos confirmados</a:t>
            </a:r>
            <a:endParaRPr lang="es-AR" sz="1400"/>
          </a:p>
        </p:txBody>
      </p:sp>
      <p:sp>
        <p:nvSpPr>
          <p:cNvPr id="7" name="Text 7"/>
          <p:cNvSpPr txBox="1"/>
          <p:nvPr/>
        </p:nvSpPr>
        <p:spPr>
          <a:xfrm>
            <a:off x="4142232" y="1417320"/>
            <a:ext cx="3337560" cy="3429000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CONFIGURACIÓN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BLOCKED</a:t>
            </a:r>
            <a:endParaRPr lang="es-AR" sz="2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rama libgpiod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pkg-config ausente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gpiod.h ausente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no se afirma clean</a:t>
            </a:r>
            <a:endParaRPr lang="es-AR" sz="1400"/>
          </a:p>
        </p:txBody>
      </p:sp>
      <p:sp>
        <p:nvSpPr>
          <p:cNvPr id="8" name="Text 8"/>
          <p:cNvSpPr txBox="1"/>
          <p:nvPr/>
        </p:nvSpPr>
        <p:spPr>
          <a:xfrm>
            <a:off x="7680960" y="1417320"/>
            <a:ext cx="3447288" cy="3429000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DEF-001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35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1</a:t>
            </a:r>
            <a:endParaRPr lang="es-AR" sz="35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único defecto confirmado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rate=1 → tv_nsec=1e9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EINVAL + retry sin progreso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abierto · sin corrección</a:t>
            </a:r>
            <a:endParaRPr lang="es-AR" sz="1400"/>
          </a:p>
        </p:txBody>
      </p:sp>
      <p:sp>
        <p:nvSpPr>
          <p:cNvPr id="9" name="Text 9"/>
          <p:cNvSpPr txBox="1"/>
          <p:nvPr/>
        </p:nvSpPr>
        <p:spPr>
          <a:xfrm>
            <a:off x="594360" y="5102352"/>
            <a:ext cx="5120640" cy="640080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ROB-001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efecto intraobjeto observado · defecto sospechado</a:t>
            </a:r>
            <a:endParaRPr lang="es-AR" sz="1200"/>
          </a:p>
        </p:txBody>
      </p:sp>
      <p:sp>
        <p:nvSpPr>
          <p:cNvPr id="10" name="Text 10"/>
          <p:cNvSpPr txBox="1"/>
          <p:nvPr/>
        </p:nvSpPr>
        <p:spPr>
          <a:xfrm>
            <a:off x="5916168" y="5102352"/>
            <a:ext cx="5212080" cy="640080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ROB-003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comportamiento reproducido · ambigüedad contractual</a:t>
            </a:r>
            <a:endParaRPr lang="es-AR" sz="1200"/>
          </a:p>
        </p:txBody>
      </p:sp>
      <p:cxnSp>
        <p:nvCxnSpPr>
          <p:cNvPr id="11" name="Connector 11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12" name="Text 12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.../02_analisis_estatico/milestone_4_.../{README,findings}.md · .../DEF-001-DSP017-rate-1-livelock.md</a:t>
            </a:r>
            <a:endParaRPr lang="es-AR" sz="750"/>
          </a:p>
        </p:txBody>
      </p:sp>
      <p:sp>
        <p:nvSpPr>
          <p:cNvPr id="13" name="Text 13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8</a:t>
            </a:r>
            <a:endParaRPr lang="es-AR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CIERRE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Conclusión: evidencia fuerte para software host, no para hardware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09 / 09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389888"/>
            <a:ext cx="5138928" cy="3383280"/>
          </a:xfrm>
          <a:prstGeom prst="roundRect">
            <a:avLst/>
          </a:prstGeom>
          <a:solidFill>
            <a:srgbClr val="DDEDE5"/>
          </a:solidFill>
          <a:ln w="12700">
            <a:solidFill>
              <a:srgbClr val="2E7D62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E7D62"/>
                </a:solidFill>
              </a:rPr>
              <a:t>PODEMOS AFIRMAR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✓ contratos unitarios repetibles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✓ 24 paths CFT ejecutados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✓ integración host en dos runs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✓ cobertura por módulo trazable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✓ findings con disposición</a:t>
            </a:r>
            <a:endParaRPr lang="es-AR" sz="1700"/>
          </a:p>
        </p:txBody>
      </p:sp>
      <p:sp>
        <p:nvSpPr>
          <p:cNvPr id="7" name="Text 7"/>
          <p:cNvSpPr txBox="1"/>
          <p:nvPr/>
        </p:nvSpPr>
        <p:spPr>
          <a:xfrm>
            <a:off x="5961888" y="1389888"/>
            <a:ext cx="5166360" cy="3383280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NO PODEMOS AFIRMAR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× comportamiento eléctrico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× SPI / GPIO físicos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× exactitud del ADS1263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× tiempo real de target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× rama libgpiod analizada</a:t>
            </a:r>
            <a:endParaRPr lang="es-AR" sz="1700"/>
          </a:p>
        </p:txBody>
      </p:sp>
      <p:sp>
        <p:nvSpPr>
          <p:cNvPr id="8" name="Text 8"/>
          <p:cNvSpPr txBox="1"/>
          <p:nvPr/>
        </p:nvSpPr>
        <p:spPr>
          <a:xfrm>
            <a:off x="594360" y="5047488"/>
            <a:ext cx="3337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4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1</a:t>
            </a:r>
            <a:endParaRPr lang="es-AR" sz="24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resolver DEF-001 con gate</a:t>
            </a:r>
            <a:endParaRPr lang="es-AR" sz="1100"/>
          </a:p>
        </p:txBody>
      </p:sp>
      <p:sp>
        <p:nvSpPr>
          <p:cNvPr id="9" name="Text 9"/>
          <p:cNvSpPr txBox="1"/>
          <p:nvPr/>
        </p:nvSpPr>
        <p:spPr>
          <a:xfrm>
            <a:off x="4142232" y="5047488"/>
            <a:ext cx="3337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4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2</a:t>
            </a:r>
            <a:endParaRPr lang="es-AR" sz="24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habilitar libgpiod y repetir</a:t>
            </a:r>
            <a:endParaRPr lang="es-AR" sz="1100"/>
          </a:p>
        </p:txBody>
      </p:sp>
      <p:sp>
        <p:nvSpPr>
          <p:cNvPr id="10" name="Text 10"/>
          <p:cNvSpPr txBox="1"/>
          <p:nvPr/>
        </p:nvSpPr>
        <p:spPr>
          <a:xfrm>
            <a:off x="7680960" y="5047488"/>
            <a:ext cx="344728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4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3</a:t>
            </a:r>
            <a:endParaRPr lang="es-AR" sz="24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validar en placa con raw log</a:t>
            </a:r>
            <a:endParaRPr lang="es-AR" sz="1100"/>
          </a:p>
        </p:txBody>
      </p:sp>
      <p:cxnSp>
        <p:nvCxnSpPr>
          <p:cNvPr id="11" name="Connector 11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12" name="Text 12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.../run_1/summary.json:580-584 · .../02_analisis_estatico/.../README.md:139-144 · DEF-001 report</a:t>
            </a:r>
            <a:endParaRPr lang="es-AR" sz="750"/>
          </a:p>
        </p:txBody>
      </p:sp>
      <p:sp>
        <p:nvSpPr>
          <p:cNvPr id="13" name="Text 13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9</a:t>
            </a:r>
            <a:endParaRPr lang="es-AR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DETALLE DEL DISEÑO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Todos los grupos de paths CFT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RESPALDO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444752"/>
            <a:ext cx="2542032" cy="1572768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P01–P08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Validación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nulls · límites · 3 errores</a:t>
            </a:r>
            <a:endParaRPr lang="es-AR" sz="1100"/>
          </a:p>
        </p:txBody>
      </p:sp>
      <p:sp>
        <p:nvSpPr>
          <p:cNvPr id="7" name="Text 7"/>
          <p:cNvSpPr txBox="1"/>
          <p:nvPr/>
        </p:nvSpPr>
        <p:spPr>
          <a:xfrm>
            <a:off x="3364992" y="1444752"/>
            <a:ext cx="2542032" cy="1572768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P09–P11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Inicialización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SPI · GPIO · genérico</a:t>
            </a:r>
            <a:endParaRPr lang="es-AR" sz="1100"/>
          </a:p>
        </p:txBody>
      </p:sp>
      <p:sp>
        <p:nvSpPr>
          <p:cNvPr id="8" name="Text 8"/>
          <p:cNvSpPr txBox="1"/>
          <p:nvPr/>
        </p:nvSpPr>
        <p:spPr>
          <a:xfrm>
            <a:off x="6135624" y="1444752"/>
            <a:ext cx="2542032" cy="1572768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P12–P15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Presencia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ZERO · FF · mismatch · IO</a:t>
            </a:r>
            <a:endParaRPr lang="es-AR" sz="1100"/>
          </a:p>
        </p:txBody>
      </p:sp>
      <p:sp>
        <p:nvSpPr>
          <p:cNvPr id="9" name="Text 9"/>
          <p:cNvSpPr txBox="1"/>
          <p:nvPr/>
        </p:nvSpPr>
        <p:spPr>
          <a:xfrm>
            <a:off x="8906256" y="1444752"/>
            <a:ext cx="2542032" cy="1572768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627D98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P16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Configuración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fallo configure</a:t>
            </a:r>
            <a:endParaRPr lang="es-AR" sz="1100"/>
          </a:p>
        </p:txBody>
      </p:sp>
      <p:sp>
        <p:nvSpPr>
          <p:cNvPr id="10" name="Text 10"/>
          <p:cNvSpPr txBox="1"/>
          <p:nvPr/>
        </p:nvSpPr>
        <p:spPr>
          <a:xfrm>
            <a:off x="594360" y="3383280"/>
            <a:ext cx="2542032" cy="1572768"/>
          </a:xfrm>
          <a:prstGeom prst="roundRect">
            <a:avLst/>
          </a:prstGeom>
          <a:solidFill>
            <a:srgbClr val="DDEDE5"/>
          </a:solidFill>
          <a:ln w="12700">
            <a:solidFill>
              <a:srgbClr val="2E7D62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E7D62"/>
                </a:solidFill>
              </a:rPr>
              <a:t>P17–P19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CSV / éxito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sin CSV · open fail · CSV OK</a:t>
            </a:r>
            <a:endParaRPr lang="es-AR" sz="1100"/>
          </a:p>
        </p:txBody>
      </p:sp>
      <p:sp>
        <p:nvSpPr>
          <p:cNvPr id="11" name="Text 11"/>
          <p:cNvSpPr txBox="1"/>
          <p:nvPr/>
        </p:nvSpPr>
        <p:spPr>
          <a:xfrm>
            <a:off x="3364992" y="3383280"/>
            <a:ext cx="2542032" cy="1572768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P20 / P22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Lectura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fallo temprano · tardío</a:t>
            </a:r>
            <a:endParaRPr lang="es-AR" sz="1100"/>
          </a:p>
        </p:txBody>
      </p:sp>
      <p:sp>
        <p:nvSpPr>
          <p:cNvPr id="12" name="Text 12"/>
          <p:cNvSpPr txBox="1"/>
          <p:nvPr/>
        </p:nvSpPr>
        <p:spPr>
          <a:xfrm>
            <a:off x="6135624" y="3383280"/>
            <a:ext cx="2542032" cy="1572768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P21 / P23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Loop / sleep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back edge · EINTR retry</a:t>
            </a:r>
            <a:endParaRPr lang="es-AR" sz="1100"/>
          </a:p>
        </p:txBody>
      </p:sp>
      <p:sp>
        <p:nvSpPr>
          <p:cNvPr id="13" name="Text 13"/>
          <p:cNvSpPr txBox="1"/>
          <p:nvPr/>
        </p:nvSpPr>
        <p:spPr>
          <a:xfrm>
            <a:off x="8906256" y="3383280"/>
            <a:ext cx="2542032" cy="1572768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P24</a:t>
            </a:r>
            <a:endParaRPr lang="es-AR" sz="12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Límite alto</a:t>
            </a:r>
            <a:endParaRPr lang="es-AR" sz="17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N=1000 · fallo temprano</a:t>
            </a:r>
            <a:endParaRPr lang="es-AR" sz="1100"/>
          </a:p>
        </p:txBody>
      </p:sp>
      <p:sp>
        <p:nvSpPr>
          <p:cNvPr id="14" name="Text 14"/>
          <p:cNvSpPr txBox="1"/>
          <p:nvPr/>
        </p:nvSpPr>
        <p:spPr>
          <a:xfrm>
            <a:off x="594360" y="5468112"/>
            <a:ext cx="105338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24/24 PASS · selección de outcomes factibles, no all-paths</a:t>
            </a:r>
            <a:endParaRPr lang="es-AR" sz="1300"/>
          </a:p>
        </p:txBody>
      </p:sp>
      <p:cxnSp>
        <p:nvCxnSpPr>
          <p:cNvPr id="15" name="Connector 15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16" name="Text 16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docs/tsse/cft_cases.md:114-129 · .../acquisition_tests_report.json</a:t>
            </a:r>
            <a:endParaRPr lang="es-AR" sz="750"/>
          </a:p>
        </p:txBody>
      </p:sp>
      <p:sp>
        <p:nvSpPr>
          <p:cNvPr id="17" name="Text 17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10</a:t>
            </a:r>
            <a:endParaRPr lang="es-AR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DETALLE CUANTITATIVO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Inventario de pruebas ejecutadas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RESPALDO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417320"/>
            <a:ext cx="297180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Suite</a:t>
            </a:r>
            <a:endParaRPr lang="es-AR" sz="1100"/>
          </a:p>
        </p:txBody>
      </p:sp>
      <p:sp>
        <p:nvSpPr>
          <p:cNvPr id="7" name="Text 7"/>
          <p:cNvSpPr txBox="1"/>
          <p:nvPr/>
        </p:nvSpPr>
        <p:spPr>
          <a:xfrm>
            <a:off x="3566160" y="1417320"/>
            <a:ext cx="128016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Casos</a:t>
            </a:r>
            <a:endParaRPr lang="es-AR" sz="1100"/>
          </a:p>
        </p:txBody>
      </p:sp>
      <p:sp>
        <p:nvSpPr>
          <p:cNvPr id="8" name="Text 8"/>
          <p:cNvSpPr txBox="1"/>
          <p:nvPr/>
        </p:nvSpPr>
        <p:spPr>
          <a:xfrm>
            <a:off x="4846320" y="1417320"/>
            <a:ext cx="164592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Resultado</a:t>
            </a:r>
            <a:endParaRPr lang="es-AR" sz="1100"/>
          </a:p>
        </p:txBody>
      </p:sp>
      <p:sp>
        <p:nvSpPr>
          <p:cNvPr id="9" name="Text 9"/>
          <p:cNvSpPr txBox="1"/>
          <p:nvPr/>
        </p:nvSpPr>
        <p:spPr>
          <a:xfrm>
            <a:off x="6492240" y="1417320"/>
            <a:ext cx="461772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Foco</a:t>
            </a:r>
            <a:endParaRPr lang="es-AR" sz="1100"/>
          </a:p>
        </p:txBody>
      </p:sp>
      <p:sp>
        <p:nvSpPr>
          <p:cNvPr id="10" name="Text 10"/>
          <p:cNvSpPr txBox="1"/>
          <p:nvPr/>
        </p:nvSpPr>
        <p:spPr>
          <a:xfrm>
            <a:off x="594360" y="1856232"/>
            <a:ext cx="2971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ADS1263 unit</a:t>
            </a:r>
            <a:endParaRPr lang="es-AR" sz="1100"/>
          </a:p>
        </p:txBody>
      </p:sp>
      <p:sp>
        <p:nvSpPr>
          <p:cNvPr id="11" name="Text 11"/>
          <p:cNvSpPr txBox="1"/>
          <p:nvPr/>
        </p:nvSpPr>
        <p:spPr>
          <a:xfrm>
            <a:off x="3566160" y="1856232"/>
            <a:ext cx="1280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66</a:t>
            </a:r>
            <a:endParaRPr lang="es-AR" sz="1100"/>
          </a:p>
        </p:txBody>
      </p:sp>
      <p:sp>
        <p:nvSpPr>
          <p:cNvPr id="12" name="Text 12"/>
          <p:cNvSpPr txBox="1"/>
          <p:nvPr/>
        </p:nvSpPr>
        <p:spPr>
          <a:xfrm>
            <a:off x="4846320" y="1856232"/>
            <a:ext cx="1645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66 PASS</a:t>
            </a:r>
            <a:endParaRPr lang="es-AR" sz="1100"/>
          </a:p>
        </p:txBody>
      </p:sp>
      <p:sp>
        <p:nvSpPr>
          <p:cNvPr id="13" name="Text 13"/>
          <p:cNvSpPr txBox="1"/>
          <p:nvPr/>
        </p:nvSpPr>
        <p:spPr>
          <a:xfrm>
            <a:off x="6492240" y="1856232"/>
            <a:ext cx="4617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registros, presencia, canal, muestras, DRDY, robustez</a:t>
            </a:r>
            <a:endParaRPr lang="es-AR" sz="1100"/>
          </a:p>
        </p:txBody>
      </p:sp>
      <p:sp>
        <p:nvSpPr>
          <p:cNvPr id="14" name="Text 14"/>
          <p:cNvSpPr txBox="1"/>
          <p:nvPr/>
        </p:nvSpPr>
        <p:spPr>
          <a:xfrm>
            <a:off x="594360" y="2459736"/>
            <a:ext cx="297180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Acquisition no-CFT</a:t>
            </a:r>
            <a:endParaRPr lang="es-AR" sz="1100"/>
          </a:p>
        </p:txBody>
      </p:sp>
      <p:sp>
        <p:nvSpPr>
          <p:cNvPr id="15" name="Text 15"/>
          <p:cNvSpPr txBox="1"/>
          <p:nvPr/>
        </p:nvSpPr>
        <p:spPr>
          <a:xfrm>
            <a:off x="3566160" y="2459736"/>
            <a:ext cx="128016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6</a:t>
            </a:r>
            <a:endParaRPr lang="es-AR" sz="1100"/>
          </a:p>
        </p:txBody>
      </p:sp>
      <p:sp>
        <p:nvSpPr>
          <p:cNvPr id="16" name="Text 16"/>
          <p:cNvSpPr txBox="1"/>
          <p:nvPr/>
        </p:nvSpPr>
        <p:spPr>
          <a:xfrm>
            <a:off x="4846320" y="2459736"/>
            <a:ext cx="164592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6 PASS</a:t>
            </a:r>
            <a:endParaRPr lang="es-AR" sz="1100"/>
          </a:p>
        </p:txBody>
      </p:sp>
      <p:sp>
        <p:nvSpPr>
          <p:cNvPr id="17" name="Text 17"/>
          <p:cNvSpPr txBox="1"/>
          <p:nvPr/>
        </p:nvSpPr>
        <p:spPr>
          <a:xfrm>
            <a:off x="6492240" y="2459736"/>
            <a:ext cx="461772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ROB-003 y DSP-017 unitario</a:t>
            </a:r>
            <a:endParaRPr lang="es-AR" sz="1100"/>
          </a:p>
        </p:txBody>
      </p:sp>
      <p:sp>
        <p:nvSpPr>
          <p:cNvPr id="18" name="Text 18"/>
          <p:cNvSpPr txBox="1"/>
          <p:nvPr/>
        </p:nvSpPr>
        <p:spPr>
          <a:xfrm>
            <a:off x="594360" y="3063240"/>
            <a:ext cx="2971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Acquisition CFT</a:t>
            </a:r>
            <a:endParaRPr lang="es-AR" sz="1100"/>
          </a:p>
        </p:txBody>
      </p:sp>
      <p:sp>
        <p:nvSpPr>
          <p:cNvPr id="19" name="Text 19"/>
          <p:cNvSpPr txBox="1"/>
          <p:nvPr/>
        </p:nvSpPr>
        <p:spPr>
          <a:xfrm>
            <a:off x="3566160" y="3063240"/>
            <a:ext cx="1280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24</a:t>
            </a:r>
            <a:endParaRPr lang="es-AR" sz="1100"/>
          </a:p>
        </p:txBody>
      </p:sp>
      <p:sp>
        <p:nvSpPr>
          <p:cNvPr id="20" name="Text 20"/>
          <p:cNvSpPr txBox="1"/>
          <p:nvPr/>
        </p:nvSpPr>
        <p:spPr>
          <a:xfrm>
            <a:off x="4846320" y="3063240"/>
            <a:ext cx="1645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24 PASS</a:t>
            </a:r>
            <a:endParaRPr lang="es-AR" sz="1100"/>
          </a:p>
        </p:txBody>
      </p:sp>
      <p:sp>
        <p:nvSpPr>
          <p:cNvPr id="21" name="Text 21"/>
          <p:cNvSpPr txBox="1"/>
          <p:nvPr/>
        </p:nvSpPr>
        <p:spPr>
          <a:xfrm>
            <a:off x="6492240" y="3063240"/>
            <a:ext cx="4617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P01–P24, control de flujo depth-1</a:t>
            </a:r>
            <a:endParaRPr lang="es-AR" sz="1100"/>
          </a:p>
        </p:txBody>
      </p:sp>
      <p:sp>
        <p:nvSpPr>
          <p:cNvPr id="22" name="Text 22"/>
          <p:cNvSpPr txBox="1"/>
          <p:nvPr/>
        </p:nvSpPr>
        <p:spPr>
          <a:xfrm>
            <a:off x="594360" y="3666744"/>
            <a:ext cx="297180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Integración run 1</a:t>
            </a:r>
            <a:endParaRPr lang="es-AR" sz="1100"/>
          </a:p>
        </p:txBody>
      </p:sp>
      <p:sp>
        <p:nvSpPr>
          <p:cNvPr id="23" name="Text 23"/>
          <p:cNvSpPr txBox="1"/>
          <p:nvPr/>
        </p:nvSpPr>
        <p:spPr>
          <a:xfrm>
            <a:off x="3566160" y="3666744"/>
            <a:ext cx="128016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71</a:t>
            </a:r>
            <a:endParaRPr lang="es-AR" sz="1100"/>
          </a:p>
        </p:txBody>
      </p:sp>
      <p:sp>
        <p:nvSpPr>
          <p:cNvPr id="24" name="Text 24"/>
          <p:cNvSpPr txBox="1"/>
          <p:nvPr/>
        </p:nvSpPr>
        <p:spPr>
          <a:xfrm>
            <a:off x="4846320" y="3666744"/>
            <a:ext cx="164592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71 PASS</a:t>
            </a:r>
            <a:endParaRPr lang="es-AR" sz="1100"/>
          </a:p>
        </p:txBody>
      </p:sp>
      <p:sp>
        <p:nvSpPr>
          <p:cNvPr id="25" name="Text 25"/>
          <p:cNvSpPr txBox="1"/>
          <p:nvPr/>
        </p:nvSpPr>
        <p:spPr>
          <a:xfrm>
            <a:off x="6492240" y="3666744"/>
            <a:ext cx="461772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CLI, CSV, strace, signal, fake HAL</a:t>
            </a:r>
            <a:endParaRPr lang="es-AR" sz="1100"/>
          </a:p>
        </p:txBody>
      </p:sp>
      <p:sp>
        <p:nvSpPr>
          <p:cNvPr id="26" name="Text 26"/>
          <p:cNvSpPr txBox="1"/>
          <p:nvPr/>
        </p:nvSpPr>
        <p:spPr>
          <a:xfrm>
            <a:off x="594360" y="4270248"/>
            <a:ext cx="2971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Integración run 2</a:t>
            </a:r>
            <a:endParaRPr lang="es-AR" sz="1100"/>
          </a:p>
        </p:txBody>
      </p:sp>
      <p:sp>
        <p:nvSpPr>
          <p:cNvPr id="27" name="Text 27"/>
          <p:cNvSpPr txBox="1"/>
          <p:nvPr/>
        </p:nvSpPr>
        <p:spPr>
          <a:xfrm>
            <a:off x="3566160" y="4270248"/>
            <a:ext cx="1280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71</a:t>
            </a:r>
            <a:endParaRPr lang="es-AR" sz="1100"/>
          </a:p>
        </p:txBody>
      </p:sp>
      <p:sp>
        <p:nvSpPr>
          <p:cNvPr id="28" name="Text 28"/>
          <p:cNvSpPr txBox="1"/>
          <p:nvPr/>
        </p:nvSpPr>
        <p:spPr>
          <a:xfrm>
            <a:off x="4846320" y="4270248"/>
            <a:ext cx="1645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71 PASS</a:t>
            </a:r>
            <a:endParaRPr lang="es-AR" sz="1100"/>
          </a:p>
        </p:txBody>
      </p:sp>
      <p:sp>
        <p:nvSpPr>
          <p:cNvPr id="29" name="Text 29"/>
          <p:cNvSpPr txBox="1"/>
          <p:nvPr/>
        </p:nvSpPr>
        <p:spPr>
          <a:xfrm>
            <a:off x="6492240" y="4270248"/>
            <a:ext cx="4617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repetición formal independiente</a:t>
            </a:r>
            <a:endParaRPr lang="es-AR" sz="1100"/>
          </a:p>
        </p:txBody>
      </p:sp>
      <p:sp>
        <p:nvSpPr>
          <p:cNvPr id="30" name="Text 30"/>
          <p:cNvSpPr txBox="1"/>
          <p:nvPr/>
        </p:nvSpPr>
        <p:spPr>
          <a:xfrm>
            <a:off x="594360" y="4873752"/>
            <a:ext cx="297180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Probe DEF-001</a:t>
            </a:r>
            <a:endParaRPr lang="es-AR" sz="1100"/>
          </a:p>
        </p:txBody>
      </p:sp>
      <p:sp>
        <p:nvSpPr>
          <p:cNvPr id="31" name="Text 31"/>
          <p:cNvSpPr txBox="1"/>
          <p:nvPr/>
        </p:nvSpPr>
        <p:spPr>
          <a:xfrm>
            <a:off x="3566160" y="4873752"/>
            <a:ext cx="128016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1</a:t>
            </a:r>
            <a:endParaRPr lang="es-AR" sz="1100"/>
          </a:p>
        </p:txBody>
      </p:sp>
      <p:sp>
        <p:nvSpPr>
          <p:cNvPr id="32" name="Text 32"/>
          <p:cNvSpPr txBox="1"/>
          <p:nvPr/>
        </p:nvSpPr>
        <p:spPr>
          <a:xfrm>
            <a:off x="4846320" y="4873752"/>
            <a:ext cx="164592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FAIL esperado</a:t>
            </a:r>
            <a:endParaRPr lang="es-AR" sz="1100"/>
          </a:p>
        </p:txBody>
      </p:sp>
      <p:sp>
        <p:nvSpPr>
          <p:cNvPr id="33" name="Text 33"/>
          <p:cNvSpPr txBox="1"/>
          <p:nvPr/>
        </p:nvSpPr>
        <p:spPr>
          <a:xfrm>
            <a:off x="6492240" y="4873752"/>
            <a:ext cx="4617720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timeout 124 confirma no terminación</a:t>
            </a:r>
            <a:endParaRPr lang="es-AR" sz="1100"/>
          </a:p>
        </p:txBody>
      </p:sp>
      <p:sp>
        <p:nvSpPr>
          <p:cNvPr id="34" name="Text 34"/>
          <p:cNvSpPr txBox="1"/>
          <p:nvPr/>
        </p:nvSpPr>
        <p:spPr>
          <a:xfrm>
            <a:off x="594360" y="5632704"/>
            <a:ext cx="105338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No sumar repeticiones como casos únicos; el probe de conformidad no es fallo de infraestructura.</a:t>
            </a:r>
            <a:endParaRPr lang="es-AR" sz="1100"/>
          </a:p>
        </p:txBody>
      </p:sp>
      <p:cxnSp>
        <p:nvCxnSpPr>
          <p:cNvPr id="35" name="Connector 35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36" name="Text 36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.../04_unitarias/milestone_4_.../*.json · .../05_integracion_host/.../summary.json · milestone_3a_completion_report.md</a:t>
            </a:r>
            <a:endParaRPr lang="es-AR" sz="750"/>
          </a:p>
        </p:txBody>
      </p:sp>
      <p:sp>
        <p:nvSpPr>
          <p:cNvPr id="37" name="Text 37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11</a:t>
            </a:r>
            <a:endParaRPr lang="es-AR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EVIDENCIA PRIMARIA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Extractos raw: resultados sin reinterpretación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RESPALDO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417320"/>
            <a:ext cx="5166360" cy="18470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CEEDLING · CFT + robustez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TESTED:  30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PASSED:  30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FAILED:   0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dirty="0">
                <a:latin typeface="Courier New"/>
                <a:ea typeface="Courier New"/>
                <a:cs typeface="Courier New"/>
                <a:solidFill>
                  <a:srgbClr val="627D98"/>
                </a:solidFill>
              </a:rPr>
              <a:t>COMMAND_EXIT_CODE="0"</a:t>
            </a:r>
            <a:endParaRPr lang="es-AR" sz="1200"/>
          </a:p>
        </p:txBody>
      </p:sp>
      <p:sp>
        <p:nvSpPr>
          <p:cNvPr id="7" name="Text 7"/>
          <p:cNvSpPr txBox="1"/>
          <p:nvPr/>
        </p:nvSpPr>
        <p:spPr>
          <a:xfrm>
            <a:off x="5961888" y="1417320"/>
            <a:ext cx="5166360" cy="18470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2E7D62"/>
                </a:solidFill>
              </a:rPr>
              <a:t>INTEGRACIÓN · RUN 1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SUMMARY: PASS scenarios=71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passed=71 failed=0 blocked=0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declaration_match=True</a:t>
            </a:r>
            <a:endParaRPr lang="es-AR" sz="1300"/>
          </a:p>
        </p:txBody>
      </p:sp>
      <p:sp>
        <p:nvSpPr>
          <p:cNvPr id="8" name="Text 8"/>
          <p:cNvSpPr txBox="1"/>
          <p:nvPr/>
        </p:nvSpPr>
        <p:spPr>
          <a:xfrm>
            <a:off x="594360" y="3493008"/>
            <a:ext cx="5166360" cy="18470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COBERTURA · ACQUISITION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Lines:     118 / 168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Functions:   9 / 13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Branches:   53 / 76</a:t>
            </a:r>
            <a:endParaRPr lang="es-AR" sz="1400"/>
          </a:p>
        </p:txBody>
      </p:sp>
      <p:sp>
        <p:nvSpPr>
          <p:cNvPr id="9" name="Text 9"/>
          <p:cNvSpPr txBox="1"/>
          <p:nvPr/>
        </p:nvSpPr>
        <p:spPr>
          <a:xfrm>
            <a:off x="5961888" y="3493008"/>
            <a:ext cx="5166360" cy="1847088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DEF-001 · PROBE</a:t>
            </a:r>
            <a:endParaRPr lang="es-AR" sz="11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samples=2 rate_hz=1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tv_nsec=1000000000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Courier New"/>
                <a:ea typeface="Courier New"/>
                <a:cs typeface="Courier New"/>
                <a:solidFill>
                  <a:srgbClr val="E76F51"/>
                </a:solidFill>
              </a:rPr>
              <a:t>timeout → exit 124</a:t>
            </a:r>
            <a:endParaRPr lang="es-AR" sz="1400"/>
          </a:p>
        </p:txBody>
      </p:sp>
      <p:sp>
        <p:nvSpPr>
          <p:cNvPr id="10" name="Text 10"/>
          <p:cNvSpPr txBox="1"/>
          <p:nvPr/>
        </p:nvSpPr>
        <p:spPr>
          <a:xfrm>
            <a:off x="594360" y="5632704"/>
            <a:ext cx="10533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Extractos tipografiados; consultar los archivos raw enlazados para el contexto completo.</a:t>
            </a:r>
            <a:endParaRPr lang="es-AR" sz="1000"/>
          </a:p>
        </p:txBody>
      </p:sp>
      <p:cxnSp>
        <p:nvCxnSpPr>
          <p:cNvPr id="11" name="Connector 11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12" name="Text 12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.../04_acquisition_cft_clean_test_all_after_fix.typescript · .../02_run_1.typescript · coverage JSON · DEF-001 report</a:t>
            </a:r>
            <a:endParaRPr lang="es-AR" sz="750"/>
          </a:p>
        </p:txBody>
      </p:sp>
      <p:sp>
        <p:nvSpPr>
          <p:cNvPr id="13" name="Text 13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12</a:t>
            </a:r>
            <a:endParaRPr lang="es-AR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DENOMINADORES SEPARADOS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Cobertura detallada por módulo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RESPALDO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417320"/>
            <a:ext cx="5120640" cy="548640"/>
          </a:xfrm>
          <a:prstGeom prst="roundRect">
            <a:avLst/>
          </a:prstGeom>
          <a:solidFill>
            <a:srgbClr val="2F6B9A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ads1263.c</a:t>
            </a:r>
            <a:endParaRPr lang="es-AR" sz="2000"/>
          </a:p>
        </p:txBody>
      </p:sp>
      <p:sp>
        <p:nvSpPr>
          <p:cNvPr id="7" name="Text 7"/>
          <p:cNvSpPr txBox="1"/>
          <p:nvPr/>
        </p:nvSpPr>
        <p:spPr>
          <a:xfrm>
            <a:off x="594360" y="2121408"/>
            <a:ext cx="20116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Líneas</a:t>
            </a:r>
            <a:endParaRPr lang="es-AR" sz="1400"/>
          </a:p>
        </p:txBody>
      </p:sp>
      <p:sp>
        <p:nvSpPr>
          <p:cNvPr id="8" name="Text 8"/>
          <p:cNvSpPr txBox="1"/>
          <p:nvPr/>
        </p:nvSpPr>
        <p:spPr>
          <a:xfrm>
            <a:off x="2606040" y="2121408"/>
            <a:ext cx="16916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151/222</a:t>
            </a:r>
            <a:endParaRPr lang="es-AR" sz="1600"/>
          </a:p>
        </p:txBody>
      </p:sp>
      <p:sp>
        <p:nvSpPr>
          <p:cNvPr id="9" name="Text 9"/>
          <p:cNvSpPr txBox="1"/>
          <p:nvPr/>
        </p:nvSpPr>
        <p:spPr>
          <a:xfrm>
            <a:off x="4297680" y="2121408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68.0%</a:t>
            </a:r>
            <a:endParaRPr lang="es-AR" sz="1600"/>
          </a:p>
        </p:txBody>
      </p:sp>
      <p:sp>
        <p:nvSpPr>
          <p:cNvPr id="10" name="Text 10"/>
          <p:cNvSpPr txBox="1"/>
          <p:nvPr/>
        </p:nvSpPr>
        <p:spPr>
          <a:xfrm>
            <a:off x="594360" y="2825496"/>
            <a:ext cx="20116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Funciones</a:t>
            </a:r>
            <a:endParaRPr lang="es-AR" sz="1400"/>
          </a:p>
        </p:txBody>
      </p:sp>
      <p:sp>
        <p:nvSpPr>
          <p:cNvPr id="11" name="Text 11"/>
          <p:cNvSpPr txBox="1"/>
          <p:nvPr/>
        </p:nvSpPr>
        <p:spPr>
          <a:xfrm>
            <a:off x="2606040" y="2825496"/>
            <a:ext cx="16916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13/16</a:t>
            </a:r>
            <a:endParaRPr lang="es-AR" sz="1600"/>
          </a:p>
        </p:txBody>
      </p:sp>
      <p:sp>
        <p:nvSpPr>
          <p:cNvPr id="12" name="Text 12"/>
          <p:cNvSpPr txBox="1"/>
          <p:nvPr/>
        </p:nvSpPr>
        <p:spPr>
          <a:xfrm>
            <a:off x="4297680" y="2825496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81.2%</a:t>
            </a:r>
            <a:endParaRPr lang="es-AR" sz="1600"/>
          </a:p>
        </p:txBody>
      </p:sp>
      <p:sp>
        <p:nvSpPr>
          <p:cNvPr id="13" name="Text 13"/>
          <p:cNvSpPr txBox="1"/>
          <p:nvPr/>
        </p:nvSpPr>
        <p:spPr>
          <a:xfrm>
            <a:off x="594360" y="3529584"/>
            <a:ext cx="20116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Ramas</a:t>
            </a:r>
            <a:endParaRPr lang="es-AR" sz="1400"/>
          </a:p>
        </p:txBody>
      </p:sp>
      <p:sp>
        <p:nvSpPr>
          <p:cNvPr id="14" name="Text 14"/>
          <p:cNvSpPr txBox="1"/>
          <p:nvPr/>
        </p:nvSpPr>
        <p:spPr>
          <a:xfrm>
            <a:off x="2606040" y="3529584"/>
            <a:ext cx="16916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90/134</a:t>
            </a:r>
            <a:endParaRPr lang="es-AR" sz="1600"/>
          </a:p>
        </p:txBody>
      </p:sp>
      <p:sp>
        <p:nvSpPr>
          <p:cNvPr id="15" name="Text 15"/>
          <p:cNvSpPr txBox="1"/>
          <p:nvPr/>
        </p:nvSpPr>
        <p:spPr>
          <a:xfrm>
            <a:off x="4297680" y="3529584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67.2%</a:t>
            </a:r>
            <a:endParaRPr lang="es-AR" sz="1600"/>
          </a:p>
        </p:txBody>
      </p:sp>
      <p:sp>
        <p:nvSpPr>
          <p:cNvPr id="16" name="Text 16"/>
          <p:cNvSpPr txBox="1"/>
          <p:nvPr/>
        </p:nvSpPr>
        <p:spPr>
          <a:xfrm>
            <a:off x="6007608" y="1417320"/>
            <a:ext cx="5120640" cy="548640"/>
          </a:xfrm>
          <a:prstGeom prst="roundRect">
            <a:avLst/>
          </a:prstGeom>
          <a:solidFill>
            <a:srgbClr val="008C8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acquisition.c</a:t>
            </a:r>
            <a:endParaRPr lang="es-AR" sz="2000"/>
          </a:p>
        </p:txBody>
      </p:sp>
      <p:sp>
        <p:nvSpPr>
          <p:cNvPr id="17" name="Text 17"/>
          <p:cNvSpPr txBox="1"/>
          <p:nvPr/>
        </p:nvSpPr>
        <p:spPr>
          <a:xfrm>
            <a:off x="6007608" y="2121408"/>
            <a:ext cx="20116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Líneas</a:t>
            </a:r>
            <a:endParaRPr lang="es-AR" sz="1400"/>
          </a:p>
        </p:txBody>
      </p:sp>
      <p:sp>
        <p:nvSpPr>
          <p:cNvPr id="18" name="Text 18"/>
          <p:cNvSpPr txBox="1"/>
          <p:nvPr/>
        </p:nvSpPr>
        <p:spPr>
          <a:xfrm>
            <a:off x="8019288" y="2121408"/>
            <a:ext cx="16916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118/168</a:t>
            </a:r>
            <a:endParaRPr lang="es-AR" sz="1600"/>
          </a:p>
        </p:txBody>
      </p:sp>
      <p:sp>
        <p:nvSpPr>
          <p:cNvPr id="19" name="Text 19"/>
          <p:cNvSpPr txBox="1"/>
          <p:nvPr/>
        </p:nvSpPr>
        <p:spPr>
          <a:xfrm>
            <a:off x="9710928" y="2121408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70.2%</a:t>
            </a:r>
            <a:endParaRPr lang="es-AR" sz="1600"/>
          </a:p>
        </p:txBody>
      </p:sp>
      <p:sp>
        <p:nvSpPr>
          <p:cNvPr id="20" name="Text 20"/>
          <p:cNvSpPr txBox="1"/>
          <p:nvPr/>
        </p:nvSpPr>
        <p:spPr>
          <a:xfrm>
            <a:off x="6007608" y="2825496"/>
            <a:ext cx="20116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Funciones</a:t>
            </a:r>
            <a:endParaRPr lang="es-AR" sz="1400"/>
          </a:p>
        </p:txBody>
      </p:sp>
      <p:sp>
        <p:nvSpPr>
          <p:cNvPr id="21" name="Text 21"/>
          <p:cNvSpPr txBox="1"/>
          <p:nvPr/>
        </p:nvSpPr>
        <p:spPr>
          <a:xfrm>
            <a:off x="8019288" y="2825496"/>
            <a:ext cx="16916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9/13</a:t>
            </a:r>
            <a:endParaRPr lang="es-AR" sz="1600"/>
          </a:p>
        </p:txBody>
      </p:sp>
      <p:sp>
        <p:nvSpPr>
          <p:cNvPr id="22" name="Text 22"/>
          <p:cNvSpPr txBox="1"/>
          <p:nvPr/>
        </p:nvSpPr>
        <p:spPr>
          <a:xfrm>
            <a:off x="9710928" y="2825496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69.2%</a:t>
            </a:r>
            <a:endParaRPr lang="es-AR" sz="1600"/>
          </a:p>
        </p:txBody>
      </p:sp>
      <p:sp>
        <p:nvSpPr>
          <p:cNvPr id="23" name="Text 23"/>
          <p:cNvSpPr txBox="1"/>
          <p:nvPr/>
        </p:nvSpPr>
        <p:spPr>
          <a:xfrm>
            <a:off x="6007608" y="3529584"/>
            <a:ext cx="20116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Ramas</a:t>
            </a:r>
            <a:endParaRPr lang="es-AR" sz="1400"/>
          </a:p>
        </p:txBody>
      </p:sp>
      <p:sp>
        <p:nvSpPr>
          <p:cNvPr id="24" name="Text 24"/>
          <p:cNvSpPr txBox="1"/>
          <p:nvPr/>
        </p:nvSpPr>
        <p:spPr>
          <a:xfrm>
            <a:off x="8019288" y="3529584"/>
            <a:ext cx="16916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53/76</a:t>
            </a:r>
            <a:endParaRPr lang="es-AR" sz="1600"/>
          </a:p>
        </p:txBody>
      </p:sp>
      <p:sp>
        <p:nvSpPr>
          <p:cNvPr id="25" name="Text 25"/>
          <p:cNvSpPr txBox="1"/>
          <p:nvPr/>
        </p:nvSpPr>
        <p:spPr>
          <a:xfrm>
            <a:off x="9710928" y="3529584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69.7%</a:t>
            </a:r>
            <a:endParaRPr lang="es-AR" sz="1600"/>
          </a:p>
        </p:txBody>
      </p:sp>
      <p:sp>
        <p:nvSpPr>
          <p:cNvPr id="26" name="Text 26"/>
          <p:cNvSpPr txBox="1"/>
          <p:nvPr/>
        </p:nvSpPr>
        <p:spPr>
          <a:xfrm>
            <a:off x="594360" y="4663440"/>
            <a:ext cx="10533888" cy="749808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Comparación acquisition</a:t>
            </a:r>
            <a:endParaRPr lang="es-AR" sz="1200"/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previo: 54/168 · 6/13 · 26/76  →  actual: 118/168 · 9/13 · 53/76</a:t>
            </a:r>
            <a:endParaRPr lang="es-AR" sz="1600"/>
          </a:p>
        </p:txBody>
      </p:sp>
      <p:sp>
        <p:nvSpPr>
          <p:cNvPr id="27" name="Text 27"/>
          <p:cNvSpPr txBox="1"/>
          <p:nvPr/>
        </p:nvSpPr>
        <p:spPr>
          <a:xfrm>
            <a:off x="594360" y="5650992"/>
            <a:ext cx="105338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Sin umbral de aceptación inventado; los gaps quedan visibles para priorización.</a:t>
            </a:r>
            <a:endParaRPr lang="es-AR" sz="1000"/>
          </a:p>
        </p:txBody>
      </p:sp>
      <p:cxnSp>
        <p:nvCxnSpPr>
          <p:cNvPr id="28" name="Connector 28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29" name="Text 29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.../06_cobertura/milestone_4_.../{ads1263,acquisition}/GcovCoverage.json · milestone_3a .../README.md</a:t>
            </a:r>
            <a:endParaRPr lang="es-AR" sz="750"/>
          </a:p>
        </p:txBody>
      </p:sp>
      <p:sp>
        <p:nvSpPr>
          <p:cNvPr id="30" name="Text 30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13</a:t>
            </a:r>
            <a:endParaRPr lang="es-AR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41 FINDINGS STYLE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Disposición de análisis estático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RESPALDO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389888"/>
            <a:ext cx="68580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N</a:t>
            </a:r>
            <a:endParaRPr lang="es-AR" sz="1000"/>
          </a:p>
        </p:txBody>
      </p:sp>
      <p:sp>
        <p:nvSpPr>
          <p:cNvPr id="7" name="Text 7"/>
          <p:cNvSpPr txBox="1"/>
          <p:nvPr/>
        </p:nvSpPr>
        <p:spPr>
          <a:xfrm>
            <a:off x="1280160" y="1389888"/>
            <a:ext cx="251460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Clase</a:t>
            </a:r>
            <a:endParaRPr lang="es-AR" sz="1000"/>
          </a:p>
        </p:txBody>
      </p:sp>
      <p:sp>
        <p:nvSpPr>
          <p:cNvPr id="8" name="Text 8"/>
          <p:cNvSpPr txBox="1"/>
          <p:nvPr/>
        </p:nvSpPr>
        <p:spPr>
          <a:xfrm>
            <a:off x="3794760" y="1389888"/>
            <a:ext cx="557784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Disposición</a:t>
            </a:r>
            <a:endParaRPr lang="es-AR" sz="1000"/>
          </a:p>
        </p:txBody>
      </p:sp>
      <p:sp>
        <p:nvSpPr>
          <p:cNvPr id="9" name="Text 9"/>
          <p:cNvSpPr txBox="1"/>
          <p:nvPr/>
        </p:nvSpPr>
        <p:spPr>
          <a:xfrm>
            <a:off x="9372600" y="1389888"/>
            <a:ext cx="173736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FFFFFF"/>
                </a:solidFill>
              </a:rPr>
              <a:t>Vínculo</a:t>
            </a:r>
            <a:endParaRPr lang="es-AR" sz="1000"/>
          </a:p>
        </p:txBody>
      </p:sp>
      <p:sp>
        <p:nvSpPr>
          <p:cNvPr id="10" name="Text 10"/>
          <p:cNvSpPr txBox="1"/>
          <p:nvPr/>
        </p:nvSpPr>
        <p:spPr>
          <a:xfrm>
            <a:off x="594360" y="1828800"/>
            <a:ext cx="6858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1</a:t>
            </a:r>
            <a:endParaRPr lang="es-AR" sz="1050"/>
          </a:p>
        </p:txBody>
      </p:sp>
      <p:sp>
        <p:nvSpPr>
          <p:cNvPr id="11" name="Text 11"/>
          <p:cNvSpPr txBox="1"/>
          <p:nvPr/>
        </p:nvSpPr>
        <p:spPr>
          <a:xfrm>
            <a:off x="1280160" y="1828800"/>
            <a:ext cx="25146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constParameterPointer</a:t>
            </a:r>
            <a:endParaRPr lang="es-AR" sz="1050"/>
          </a:p>
        </p:txBody>
      </p:sp>
      <p:sp>
        <p:nvSpPr>
          <p:cNvPr id="12" name="Text 12"/>
          <p:cNvSpPr txBox="1"/>
          <p:nvPr/>
        </p:nvSpPr>
        <p:spPr>
          <a:xfrm>
            <a:off x="3794760" y="1828800"/>
            <a:ext cx="55778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falso positivo por escritura kernel ioctl</a:t>
            </a:r>
            <a:endParaRPr lang="es-AR" sz="1050"/>
          </a:p>
        </p:txBody>
      </p:sp>
      <p:sp>
        <p:nvSpPr>
          <p:cNvPr id="13" name="Text 13"/>
          <p:cNvSpPr txBox="1"/>
          <p:nvPr/>
        </p:nvSpPr>
        <p:spPr>
          <a:xfrm>
            <a:off x="9372600" y="1828800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AR-SA-001</a:t>
            </a:r>
            <a:endParaRPr lang="es-AR" sz="1050"/>
          </a:p>
        </p:txBody>
      </p:sp>
      <p:sp>
        <p:nvSpPr>
          <p:cNvPr id="14" name="Text 14"/>
          <p:cNvSpPr txBox="1"/>
          <p:nvPr/>
        </p:nvSpPr>
        <p:spPr>
          <a:xfrm>
            <a:off x="594360" y="2441448"/>
            <a:ext cx="68580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37</a:t>
            </a:r>
            <a:endParaRPr lang="es-AR" sz="1050"/>
          </a:p>
        </p:txBody>
      </p:sp>
      <p:sp>
        <p:nvSpPr>
          <p:cNvPr id="15" name="Text 15"/>
          <p:cNvSpPr txBox="1"/>
          <p:nvPr/>
        </p:nvSpPr>
        <p:spPr>
          <a:xfrm>
            <a:off x="1280160" y="2441448"/>
            <a:ext cx="251460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unusedStructMember</a:t>
            </a:r>
            <a:endParaRPr lang="es-AR" sz="1050"/>
          </a:p>
        </p:txBody>
      </p:sp>
      <p:sp>
        <p:nvSpPr>
          <p:cNvPr id="16" name="Text 16"/>
          <p:cNvSpPr txBox="1"/>
          <p:nvPr/>
        </p:nvSpPr>
        <p:spPr>
          <a:xfrm>
            <a:off x="3794760" y="2441448"/>
            <a:ext cx="557784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contexto de headers / configuración</a:t>
            </a:r>
            <a:endParaRPr lang="es-AR" sz="1050"/>
          </a:p>
        </p:txBody>
      </p:sp>
      <p:sp>
        <p:nvSpPr>
          <p:cNvPr id="17" name="Text 17"/>
          <p:cNvSpPr txBox="1"/>
          <p:nvPr/>
        </p:nvSpPr>
        <p:spPr>
          <a:xfrm>
            <a:off x="9372600" y="2441448"/>
            <a:ext cx="173736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AR-SA-002</a:t>
            </a:r>
            <a:endParaRPr lang="es-AR" sz="1050"/>
          </a:p>
        </p:txBody>
      </p:sp>
      <p:sp>
        <p:nvSpPr>
          <p:cNvPr id="18" name="Text 18"/>
          <p:cNvSpPr txBox="1"/>
          <p:nvPr/>
        </p:nvSpPr>
        <p:spPr>
          <a:xfrm>
            <a:off x="594360" y="3054096"/>
            <a:ext cx="6858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3</a:t>
            </a:r>
            <a:endParaRPr lang="es-AR" sz="1050"/>
          </a:p>
        </p:txBody>
      </p:sp>
      <p:sp>
        <p:nvSpPr>
          <p:cNvPr id="19" name="Text 19"/>
          <p:cNvSpPr txBox="1"/>
          <p:nvPr/>
        </p:nvSpPr>
        <p:spPr>
          <a:xfrm>
            <a:off x="1280160" y="3054096"/>
            <a:ext cx="25146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staticFunction</a:t>
            </a:r>
            <a:endParaRPr lang="es-AR" sz="1050"/>
          </a:p>
        </p:txBody>
      </p:sp>
      <p:sp>
        <p:nvSpPr>
          <p:cNvPr id="20" name="Text 20"/>
          <p:cNvSpPr txBox="1"/>
          <p:nvPr/>
        </p:nvSpPr>
        <p:spPr>
          <a:xfrm>
            <a:off x="3794760" y="3054096"/>
            <a:ext cx="55778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API pública aceptada</a:t>
            </a:r>
            <a:endParaRPr lang="es-AR" sz="1050"/>
          </a:p>
        </p:txBody>
      </p:sp>
      <p:sp>
        <p:nvSpPr>
          <p:cNvPr id="21" name="Text 21"/>
          <p:cNvSpPr txBox="1"/>
          <p:nvPr/>
        </p:nvSpPr>
        <p:spPr>
          <a:xfrm>
            <a:off x="9372600" y="3054096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AR-SA-003</a:t>
            </a:r>
            <a:endParaRPr lang="es-AR" sz="1050"/>
          </a:p>
        </p:txBody>
      </p:sp>
      <p:sp>
        <p:nvSpPr>
          <p:cNvPr id="22" name="Text 22"/>
          <p:cNvSpPr txBox="1"/>
          <p:nvPr/>
        </p:nvSpPr>
        <p:spPr>
          <a:xfrm>
            <a:off x="594360" y="3666744"/>
            <a:ext cx="68580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32</a:t>
            </a:r>
            <a:endParaRPr lang="es-AR" sz="1050"/>
          </a:p>
        </p:txBody>
      </p:sp>
      <p:sp>
        <p:nvSpPr>
          <p:cNvPr id="23" name="Text 23"/>
          <p:cNvSpPr txBox="1"/>
          <p:nvPr/>
        </p:nvSpPr>
        <p:spPr>
          <a:xfrm>
            <a:off x="1280160" y="3666744"/>
            <a:ext cx="251460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missingIncludeSystem</a:t>
            </a:r>
            <a:endParaRPr lang="es-AR" sz="1050"/>
          </a:p>
        </p:txBody>
      </p:sp>
      <p:sp>
        <p:nvSpPr>
          <p:cNvPr id="24" name="Text 24"/>
          <p:cNvSpPr txBox="1"/>
          <p:nvPr/>
        </p:nvSpPr>
        <p:spPr>
          <a:xfrm>
            <a:off x="3794760" y="3666744"/>
            <a:ext cx="557784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limitación visible, no finding source</a:t>
            </a:r>
            <a:endParaRPr lang="es-AR" sz="1050"/>
          </a:p>
        </p:txBody>
      </p:sp>
      <p:sp>
        <p:nvSpPr>
          <p:cNvPr id="25" name="Text 25"/>
          <p:cNvSpPr txBox="1"/>
          <p:nvPr/>
        </p:nvSpPr>
        <p:spPr>
          <a:xfrm>
            <a:off x="9372600" y="3666744"/>
            <a:ext cx="173736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AR-SA-004</a:t>
            </a:r>
            <a:endParaRPr lang="es-AR" sz="1050"/>
          </a:p>
        </p:txBody>
      </p:sp>
      <p:sp>
        <p:nvSpPr>
          <p:cNvPr id="26" name="Text 26"/>
          <p:cNvSpPr txBox="1"/>
          <p:nvPr/>
        </p:nvSpPr>
        <p:spPr>
          <a:xfrm>
            <a:off x="594360" y="4279392"/>
            <a:ext cx="6858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2</a:t>
            </a:r>
            <a:endParaRPr lang="es-AR" sz="1050"/>
          </a:p>
        </p:txBody>
      </p:sp>
      <p:sp>
        <p:nvSpPr>
          <p:cNvPr id="27" name="Text 27"/>
          <p:cNvSpPr txBox="1"/>
          <p:nvPr/>
        </p:nvSpPr>
        <p:spPr>
          <a:xfrm>
            <a:off x="1280160" y="4279392"/>
            <a:ext cx="25146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branch-depth notices</a:t>
            </a:r>
            <a:endParaRPr lang="es-AR" sz="1050"/>
          </a:p>
        </p:txBody>
      </p:sp>
      <p:sp>
        <p:nvSpPr>
          <p:cNvPr id="28" name="Text 28"/>
          <p:cNvSpPr txBox="1"/>
          <p:nvPr/>
        </p:nvSpPr>
        <p:spPr>
          <a:xfrm>
            <a:off x="3794760" y="4279392"/>
            <a:ext cx="55778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cerrados por follow-up exhaustive</a:t>
            </a:r>
            <a:endParaRPr lang="es-AR" sz="1050"/>
          </a:p>
        </p:txBody>
      </p:sp>
      <p:sp>
        <p:nvSpPr>
          <p:cNvPr id="29" name="Text 29"/>
          <p:cNvSpPr txBox="1"/>
          <p:nvPr/>
        </p:nvSpPr>
        <p:spPr>
          <a:xfrm>
            <a:off x="9372600" y="4279392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AR-SA-005</a:t>
            </a:r>
            <a:endParaRPr lang="es-AR" sz="1050"/>
          </a:p>
        </p:txBody>
      </p:sp>
      <p:sp>
        <p:nvSpPr>
          <p:cNvPr id="30" name="Text 30"/>
          <p:cNvSpPr txBox="1"/>
          <p:nvPr/>
        </p:nvSpPr>
        <p:spPr>
          <a:xfrm>
            <a:off x="594360" y="4892040"/>
            <a:ext cx="68580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1</a:t>
            </a:r>
            <a:endParaRPr lang="es-AR" sz="1050"/>
          </a:p>
        </p:txBody>
      </p:sp>
      <p:sp>
        <p:nvSpPr>
          <p:cNvPr id="31" name="Text 31"/>
          <p:cNvSpPr txBox="1"/>
          <p:nvPr/>
        </p:nvSpPr>
        <p:spPr>
          <a:xfrm>
            <a:off x="1280160" y="4892040"/>
            <a:ext cx="251460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libgpiod config</a:t>
            </a:r>
            <a:endParaRPr lang="es-AR" sz="1050"/>
          </a:p>
        </p:txBody>
      </p:sp>
      <p:sp>
        <p:nvSpPr>
          <p:cNvPr id="32" name="Text 32"/>
          <p:cNvSpPr txBox="1"/>
          <p:nvPr/>
        </p:nvSpPr>
        <p:spPr>
          <a:xfrm>
            <a:off x="3794760" y="4892040"/>
            <a:ext cx="557784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BLOCKED por entorno</a:t>
            </a:r>
            <a:endParaRPr lang="es-AR" sz="1050"/>
          </a:p>
        </p:txBody>
      </p:sp>
      <p:sp>
        <p:nvSpPr>
          <p:cNvPr id="33" name="Text 33"/>
          <p:cNvSpPr txBox="1"/>
          <p:nvPr/>
        </p:nvSpPr>
        <p:spPr>
          <a:xfrm>
            <a:off x="9372600" y="4892040"/>
            <a:ext cx="1737360" cy="612648"/>
          </a:xfrm>
          <a:prstGeom prst="rect">
            <a:avLst/>
          </a:prstGeom>
          <a:solidFill>
            <a:srgbClr val="E8EDF2"/>
          </a:solidFill>
          <a:ln w="12700">
            <a:solidFill>
              <a:srgbClr val="CAD5DF"/>
            </a:solidFill>
          </a:ln>
        </p:spPr>
        <p:txBody>
          <a:bodyPr wrap="square" lIns="73152" rIns="73152" tIns="73152" bIns="73152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b="1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BLK-SA-001</a:t>
            </a:r>
            <a:endParaRPr lang="es-AR" sz="1050"/>
          </a:p>
        </p:txBody>
      </p:sp>
      <p:sp>
        <p:nvSpPr>
          <p:cNvPr id="34" name="Text 34"/>
          <p:cNvSpPr txBox="1"/>
          <p:nvPr/>
        </p:nvSpPr>
        <p:spPr>
          <a:xfrm>
            <a:off x="594360" y="5623560"/>
            <a:ext cx="105338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41 source findings únicos · 0 defectos confirmados nuevos · configuración bloqueada no declarada clean</a:t>
            </a:r>
            <a:endParaRPr lang="es-AR" sz="1100"/>
          </a:p>
        </p:txBody>
      </p:sp>
      <p:cxnSp>
        <p:nvCxnSpPr>
          <p:cNvPr id="35" name="Connector 35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36" name="Text 36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.../02_analisis_estatico/milestone_4_.../findings.md · README.md:50-81</a:t>
            </a:r>
            <a:endParaRPr lang="es-AR" sz="750"/>
          </a:p>
        </p:txBody>
      </p:sp>
      <p:sp>
        <p:nvSpPr>
          <p:cNvPr id="37" name="Text 37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14</a:t>
            </a:r>
            <a:endParaRPr lang="es-AR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CLASIFICACIÓN Y DECISIÓN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ROB-001, ROB-003 y DEF-001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RESPALDO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417320"/>
            <a:ext cx="3337560" cy="4160520"/>
          </a:xfrm>
          <a:prstGeom prst="roundRect">
            <a:avLst/>
          </a:prstGeom>
          <a:solidFill>
            <a:srgbClr val="DCE8F2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ROB-001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SUSPECTED DEFECT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OBSERVADO</a:t>
            </a:r>
            <a:endParaRPr lang="es-AR" sz="10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cruce de mock_registers al byte adyacente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DISPOSICIÓN</a:t>
            </a:r>
            <a:endParaRPr lang="es-AR" sz="10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ASan/UBSan silenciosos no prueban seguridad</a:t>
            </a:r>
            <a:endParaRPr lang="es-AR" sz="1300"/>
          </a:p>
        </p:txBody>
      </p:sp>
      <p:sp>
        <p:nvSpPr>
          <p:cNvPr id="7" name="Text 7"/>
          <p:cNvSpPr txBox="1"/>
          <p:nvPr/>
        </p:nvSpPr>
        <p:spPr>
          <a:xfrm>
            <a:off x="4178808" y="1417320"/>
            <a:ext cx="3337560" cy="4160520"/>
          </a:xfrm>
          <a:prstGeom prst="roundRect">
            <a:avLst/>
          </a:prstGeom>
          <a:solidFill>
            <a:srgbClr val="D9EFEC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ROB-003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CONTRACT AMBIGUITY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OBSERVADO</a:t>
            </a:r>
            <a:endParaRPr lang="es-AR" sz="10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GPIO_READ / timeout pueden acompañar SPI OK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DISPOSICIÓN</a:t>
            </a:r>
            <a:endParaRPr lang="es-AR" sz="10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falta contrato aprobado de fatalidad</a:t>
            </a:r>
            <a:endParaRPr lang="es-AR" sz="1300"/>
          </a:p>
        </p:txBody>
      </p:sp>
      <p:sp>
        <p:nvSpPr>
          <p:cNvPr id="8" name="Text 8"/>
          <p:cNvSpPr txBox="1"/>
          <p:nvPr/>
        </p:nvSpPr>
        <p:spPr>
          <a:xfrm>
            <a:off x="7763256" y="1417320"/>
            <a:ext cx="3337560" cy="4160520"/>
          </a:xfrm>
          <a:prstGeom prst="roundRect">
            <a:avLst/>
          </a:prstGeom>
          <a:solidFill>
            <a:srgbClr val="F8DED5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DEF-001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CONFIRMED DEFECT</a:t>
            </a:r>
            <a:endParaRPr lang="es-AR" sz="16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OBSERVADO</a:t>
            </a:r>
            <a:endParaRPr lang="es-AR" sz="10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rate=1 crea tv_nsec=1000000000</a:t>
            </a:r>
            <a:endParaRPr lang="es-AR" sz="13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DISPOSICIÓN</a:t>
            </a:r>
            <a:endParaRPr lang="es-AR" sz="10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300" dirty="0">
                <a:latin typeface="Arial"/>
                <a:ea typeface="Arial"/>
                <a:cs typeface="Arial"/>
                <a:solidFill>
                  <a:srgbClr val="243B53"/>
                </a:solidFill>
              </a:rPr>
              <a:t>N≥2 no completa; gate humano pendiente</a:t>
            </a:r>
            <a:endParaRPr lang="es-AR" sz="1300"/>
          </a:p>
        </p:txBody>
      </p:sp>
      <p:sp>
        <p:nvSpPr>
          <p:cNvPr id="9" name="Text 9"/>
          <p:cNvSpPr txBox="1"/>
          <p:nvPr/>
        </p:nvSpPr>
        <p:spPr>
          <a:xfrm>
            <a:off x="594360" y="5742432"/>
            <a:ext cx="1053388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11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Únicamente DEF-001 cumple el criterio de defecto confirmado.</a:t>
            </a:r>
            <a:endParaRPr lang="es-AR" sz="1100"/>
          </a:p>
        </p:txBody>
      </p:sp>
      <p:cxnSp>
        <p:nvCxnSpPr>
          <p:cNvPr id="10" name="Connector 10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11" name="Text 11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.../07_defectos_regresion/milestone_3a_.../{README,DEF-001-DSP017-rate-1-livelock}.md</a:t>
            </a:r>
            <a:endParaRPr lang="es-AR" sz="750"/>
          </a:p>
        </p:txBody>
      </p:sp>
      <p:sp>
        <p:nvSpPr>
          <p:cNvPr id="12" name="Text 12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15</a:t>
            </a:r>
            <a:endParaRPr lang="es-AR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DÓNDE MIRAR</a:t>
            </a:r>
            <a:endParaRPr lang="es-AR" sz="1000"/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2700" b="1" dirty="0">
                <a:latin typeface="Arial"/>
                <a:ea typeface="Arial"/>
                <a:cs typeface="Arial"/>
                <a:solidFill>
                  <a:srgbClr val="102A43"/>
                </a:solidFill>
              </a:rPr>
              <a:t>Mapa de evidencia para auditoría y preguntas</a:t>
            </a:r>
            <a:endParaRPr lang="es-AR" sz="2700"/>
          </a:p>
        </p:txBody>
      </p:sp>
      <p:sp>
        <p:nvSpPr>
          <p:cNvPr id="4" name="Text 4"/>
          <p:cNvSpPr txBox="1"/>
          <p:nvPr/>
        </p:nvSpPr>
        <p:spPr>
          <a:xfrm>
            <a:off x="10808208" y="274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9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RESPALDO</a:t>
            </a:r>
            <a:endParaRPr lang="es-AR" sz="900"/>
          </a:p>
        </p:txBody>
      </p:sp>
      <p:cxnSp>
        <p:nvCxnSpPr>
          <p:cNvPr id="5" name="Connector 5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9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6" name="Text 6"/>
          <p:cNvSpPr txBox="1"/>
          <p:nvPr/>
        </p:nvSpPr>
        <p:spPr>
          <a:xfrm>
            <a:off x="594360" y="1389888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Diseño CFT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docs/tsse/cft_acquisition_run_samples.md</a:t>
            </a:r>
            <a:endParaRPr lang="es-AR" sz="105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docs/tsse/cft_cases.md</a:t>
            </a:r>
            <a:endParaRPr lang="es-AR" sz="1050"/>
          </a:p>
        </p:txBody>
      </p:sp>
      <p:sp>
        <p:nvSpPr>
          <p:cNvPr id="7" name="Text 7"/>
          <p:cNvSpPr txBox="1"/>
          <p:nvPr/>
        </p:nvSpPr>
        <p:spPr>
          <a:xfrm>
            <a:off x="6007608" y="1389888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C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008C8C"/>
                </a:solidFill>
              </a:rPr>
              <a:t>Unitarias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docs/tsse/evidencias/04_unitarias/</a:t>
            </a:r>
            <a:endParaRPr lang="es-AR" sz="105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milestone_4_20261015T161203Z/</a:t>
            </a:r>
            <a:endParaRPr lang="es-AR" sz="1050"/>
          </a:p>
        </p:txBody>
      </p:sp>
      <p:sp>
        <p:nvSpPr>
          <p:cNvPr id="8" name="Text 8"/>
          <p:cNvSpPr txBox="1"/>
          <p:nvPr/>
        </p:nvSpPr>
        <p:spPr>
          <a:xfrm>
            <a:off x="594360" y="2779776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62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2E7D62"/>
                </a:solidFill>
              </a:rPr>
              <a:t>Integración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docs/tsse/evidencias/05_integracion_host/</a:t>
            </a:r>
            <a:endParaRPr lang="es-AR" sz="105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milestone_4_20261015T161203Z/</a:t>
            </a:r>
            <a:endParaRPr lang="es-AR" sz="1050"/>
          </a:p>
        </p:txBody>
      </p:sp>
      <p:sp>
        <p:nvSpPr>
          <p:cNvPr id="9" name="Text 9"/>
          <p:cNvSpPr txBox="1"/>
          <p:nvPr/>
        </p:nvSpPr>
        <p:spPr>
          <a:xfrm>
            <a:off x="6007608" y="2779776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B9A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2F6B9A"/>
                </a:solidFill>
              </a:rPr>
              <a:t>Cobertura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docs/tsse/evidencias/06_cobertura/</a:t>
            </a:r>
            <a:endParaRPr lang="es-AR" sz="105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milestone_4_20261015T161203Z/</a:t>
            </a:r>
            <a:endParaRPr lang="es-AR" sz="1050"/>
          </a:p>
        </p:txBody>
      </p:sp>
      <p:sp>
        <p:nvSpPr>
          <p:cNvPr id="10" name="Text 10"/>
          <p:cNvSpPr txBox="1"/>
          <p:nvPr/>
        </p:nvSpPr>
        <p:spPr>
          <a:xfrm>
            <a:off x="594360" y="4169664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E76F51"/>
                </a:solidFill>
              </a:rPr>
              <a:t>Defectos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docs/tsse/evidencias/07_defectos_regresion/</a:t>
            </a:r>
            <a:endParaRPr lang="es-AR" sz="105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milestone_3a_20261015T150616Z/</a:t>
            </a:r>
            <a:endParaRPr lang="es-AR" sz="1050"/>
          </a:p>
        </p:txBody>
      </p:sp>
      <p:sp>
        <p:nvSpPr>
          <p:cNvPr id="11" name="Text 11"/>
          <p:cNvSpPr txBox="1"/>
          <p:nvPr/>
        </p:nvSpPr>
        <p:spPr>
          <a:xfrm>
            <a:off x="6007608" y="4169664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27D98"/>
            </a:solidFill>
          </a:ln>
        </p:spPr>
        <p:txBody>
          <a:bodyPr wrap="square" lIns="73152" rIns="73152" tIns="73152" bIns="73152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4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Estático</a:t>
            </a:r>
            <a:endParaRPr lang="es-AR" sz="140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docs/tsse/evidencias/02_analisis_estatico/</a:t>
            </a:r>
            <a:endParaRPr lang="es-AR" sz="1050"/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1050" dirty="0">
                <a:latin typeface="Courier New"/>
                <a:ea typeface="Courier New"/>
                <a:cs typeface="Courier New"/>
                <a:solidFill>
                  <a:srgbClr val="102A43"/>
                </a:solidFill>
              </a:rPr>
              <a:t>milestone_4_20261015T161203Z/</a:t>
            </a:r>
            <a:endParaRPr lang="es-AR" sz="1050"/>
          </a:p>
        </p:txBody>
      </p:sp>
      <p:sp>
        <p:nvSpPr>
          <p:cNvPr id="12" name="Text 12"/>
          <p:cNvSpPr txBox="1"/>
          <p:nvPr/>
        </p:nvSpPr>
        <p:spPr>
          <a:xfrm>
            <a:off x="594360" y="5650992"/>
            <a:ext cx="105338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s-AR" sz="95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Esta presentación y su verificación: docs/tsse/evidencias/09_presentacion/milestone_4_20261015T161203Z/</a:t>
            </a:r>
            <a:endParaRPr lang="es-AR" sz="950"/>
          </a:p>
        </p:txBody>
      </p:sp>
      <p:cxnSp>
        <p:nvCxnSpPr>
          <p:cNvPr id="13" name="Connector 13"/>
          <p:cNvCxnSpPr/>
          <p:nvPr/>
        </p:nvCxnSpPr>
        <p:spPr>
          <a:xfrm>
            <a:off x="502920" y="6364224"/>
            <a:ext cx="11183112" cy="0"/>
          </a:xfrm>
          <a:prstGeom prst="line">
            <a:avLst/>
          </a:prstGeom>
          <a:ln w="7000">
            <a:solidFill>
              <a:srgbClr val="CAD5DF"/>
            </a:solidFill>
            <a:headEnd type="none"/>
            <a:tailEnd type="none"/>
          </a:ln>
        </p:spPr>
      </p:cxnSp>
      <p:sp>
        <p:nvSpPr>
          <p:cNvPr id="14" name="Text 14"/>
          <p:cNvSpPr txBox="1"/>
          <p:nvPr/>
        </p:nvSpPr>
        <p:spPr>
          <a:xfrm>
            <a:off x="502920" y="641908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s-AR" sz="750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Evidencia: README de evidencia de presentación · deck.sha256 · verification.stdout.txt</a:t>
            </a:r>
            <a:endParaRPr lang="es-AR" sz="750"/>
          </a:p>
        </p:txBody>
      </p:sp>
      <p:sp>
        <p:nvSpPr>
          <p:cNvPr id="15" name="Text 15"/>
          <p:cNvSpPr txBox="1"/>
          <p:nvPr/>
        </p:nvSpPr>
        <p:spPr>
          <a:xfrm>
            <a:off x="11292840" y="641908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s-AR" sz="800" b="1" dirty="0">
                <a:latin typeface="Arial"/>
                <a:ea typeface="Arial"/>
                <a:cs typeface="Arial"/>
                <a:solidFill>
                  <a:srgbClr val="627D98"/>
                </a:solidFill>
              </a:rPr>
              <a:t>16</a:t>
            </a:r>
            <a:endParaRPr lang="es-AR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SSE Evidence">
  <a:themeElements>
    <a:clrScheme name="TSSE">
      <a:dk1>
        <a:srgbClr val="102A43"/>
      </a:dk1>
      <a:lt1>
        <a:srgbClr val="F4F1EA"/>
      </a:lt1>
      <a:dk2>
        <a:srgbClr val="243B53"/>
      </a:dk2>
      <a:lt2>
        <a:srgbClr val="FFFFFF"/>
      </a:lt2>
      <a:accent1>
        <a:srgbClr val="008C8C"/>
      </a:accent1>
      <a:accent2>
        <a:srgbClr val="2F6B9A"/>
      </a:accent2>
      <a:accent3>
        <a:srgbClr val="E76F51"/>
      </a:accent3>
      <a:accent4>
        <a:srgbClr val="2E7D62"/>
      </a:accent4>
      <a:accent5>
        <a:srgbClr val="627D98"/>
      </a:accent5>
      <a:accent6>
        <a:srgbClr val="CAD5DF"/>
      </a:accent6>
      <a:hlink>
        <a:srgbClr val="0563C1"/>
      </a:hlink>
      <a:folHlink>
        <a:srgbClr val="954F72"/>
      </a:folHlink>
    </a:clrScheme>
    <a:fontScheme name="TSS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SS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standard library OOXML generator</Application>
  <PresentationFormat>On-screen Show (16:9)</PresentationFormat>
  <Slides>16</Slides>
  <Notes>16</Notes>
  <HiddenSlides>0</HiddenSlides>
  <TitlesOfParts>
    <vt:vector size="16" baseType="lpstr">
      <vt:lpstr>Verificación de software para adquisición ADS1263</vt:lpstr>
      <vt:lpstr>Sistema, baseline y frontera de la evidencia</vt:lpstr>
      <vt:lpstr>Estrategia de calidad por capas</vt:lpstr>
      <vt:lpstr>CFT: ejemplo P21</vt:lpstr>
      <vt:lpstr>Arquitectura unitaria y mocks</vt:lpstr>
      <vt:lpstr>Resultados actuales</vt:lpstr>
      <vt:lpstr>Cobertura y trazabilidad</vt:lpstr>
      <vt:lpstr>Hallazgos estáticos y DEF-001</vt:lpstr>
      <vt:lpstr>Conclusiones y limitaciones</vt:lpstr>
      <vt:lpstr>Respaldo: grupos CFT</vt:lpstr>
      <vt:lpstr>Respaldo: inventario de pruebas</vt:lpstr>
      <vt:lpstr>Respaldo: extractos raw</vt:lpstr>
      <vt:lpstr>Respaldo: cobertura por módulo</vt:lpstr>
      <vt:lpstr>Respaldo: disposiciones estáticas</vt:lpstr>
      <vt:lpstr>Respaldo: ROB-001/003 y DEF-001</vt:lpstr>
      <vt:lpstr>Respaldo: mapa de evidencia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Verificación de software para adquisición ADS1263</dc:title>
  <dc:subject>TSSE Milestone 4</dc:subject>
  <dc:creator>IdS project</dc:creator>
  <cp:keywords>TSSE,CFT,unit testing,integration,coverage,static analysis</cp:keywords>
  <dc:description>Deck principal de 9 láminas más 7 láminas de respaldo.</dc:description>
  <cp:lastModifiedBy>Deterministic Python generator</cp:lastModifiedBy>
  <cp:revision>1</cp:revision>
  <dcterms:created xsi:type="dcterms:W3CDTF">2026-10-15T16:12:03Z</dcterms:created>
  <dcterms:modified xsi:type="dcterms:W3CDTF">2026-10-15T16:12:03Z</dcterms:modified>
</cp:coreProperties>
</file>